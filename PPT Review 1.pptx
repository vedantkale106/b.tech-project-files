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  <p:sldId id="257" r:id="rId3"/>
    <p:sldId id="273" r:id="rId4"/>
    <p:sldId id="274" r:id="rId5"/>
    <p:sldId id="258" r:id="rId6"/>
    <p:sldId id="259" r:id="rId7"/>
    <p:sldId id="260" r:id="rId8"/>
    <p:sldId id="261" r:id="rId9"/>
    <p:sldId id="262" r:id="rId10"/>
    <p:sldId id="272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147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pic>
          <p:nvPicPr>
            <p:cNvPr id="7" name="Picture 6" descr="SD-PanelTitle-V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 rot="5400000">
              <a:off x="3739196" y="525780"/>
              <a:ext cx="1664208" cy="612648"/>
            </a:xfrm>
            <a:prstGeom prst="rect">
              <a:avLst/>
            </a:prstGeom>
          </p:spPr>
        </p:pic>
        <p:pic>
          <p:nvPicPr>
            <p:cNvPr id="14" name="Picture 13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 rot="5400000">
              <a:off x="3739196" y="5719572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21934" y="1811863"/>
            <a:ext cx="5308866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1934" y="3598327"/>
            <a:ext cx="5308866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65417" y="5054602"/>
            <a:ext cx="673276" cy="2794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21934" y="5054602"/>
            <a:ext cx="4064860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17317" y="5054602"/>
            <a:ext cx="413483" cy="2794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825" y="3471329"/>
            <a:ext cx="511308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481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278466" y="2354670"/>
            <a:ext cx="659553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216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8465" y="1641413"/>
            <a:ext cx="6595534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78465" y="3734859"/>
            <a:ext cx="6595534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278466" y="3599392"/>
            <a:ext cx="659553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1181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76866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152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664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868" y="3243262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1832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1832" y="3243262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41" name="Straight Connector 40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4442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15337"/>
            <a:ext cx="6798735" cy="13038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0650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49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388534"/>
            <a:ext cx="2536798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0062" y="982132"/>
            <a:ext cx="385553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031065"/>
            <a:ext cx="2536798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278466" y="2912533"/>
            <a:ext cx="233359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52863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883832"/>
            <a:ext cx="3632202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070" y="1032933"/>
            <a:ext cx="2929463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255432"/>
            <a:ext cx="3632201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41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4815415"/>
            <a:ext cx="6798734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6260" y="1032933"/>
            <a:ext cx="7091482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6" y="5382153"/>
            <a:ext cx="6798734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375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06873"/>
            <a:ext cx="6798734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275666"/>
            <a:ext cx="6798736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5" y="4140199"/>
            <a:ext cx="660642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77735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4333" y="982132"/>
            <a:ext cx="6400250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00200" y="3352799"/>
            <a:ext cx="5892798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3" y="4343400"/>
            <a:ext cx="6798738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49969" y="905362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3503" y="2827870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278466" y="4140199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2425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9" y="3308581"/>
            <a:ext cx="679872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4777381"/>
            <a:ext cx="679873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8002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416" y="982132"/>
            <a:ext cx="632516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6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639312"/>
            <a:ext cx="6798730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529667"/>
            <a:ext cx="6798736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78060" y="89689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9796" y="260772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278466" y="342900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97010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82131"/>
            <a:ext cx="6798734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566160"/>
            <a:ext cx="6798730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6" y="4470400"/>
            <a:ext cx="6798734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9" y="3429000"/>
            <a:ext cx="660642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5616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5" y="2490135"/>
            <a:ext cx="6798736" cy="3385733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60642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14483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56667" y="906873"/>
            <a:ext cx="1618930" cy="496899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7" y="906873"/>
            <a:ext cx="4915509" cy="4968993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6245512" y="906873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9440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6858001"/>
            <a:chOff x="0" y="0"/>
            <a:chExt cx="9144000" cy="6858001"/>
          </a:xfrm>
        </p:grpSpPr>
        <p:pic>
          <p:nvPicPr>
            <p:cNvPr id="8" name="Picture 7" descr="SD-PanelContent-V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 rot="5400000">
              <a:off x="4221675" y="39689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 rot="5400000">
              <a:off x="4221675" y="6211888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2490135"/>
            <a:ext cx="6798736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56670" y="5960533"/>
            <a:ext cx="114828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76865" y="5960533"/>
            <a:ext cx="510466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80091" y="5960533"/>
            <a:ext cx="39551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666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8767" y="1662573"/>
            <a:ext cx="7315199" cy="1515533"/>
          </a:xfrm>
        </p:spPr>
        <p:txBody>
          <a:bodyPr/>
          <a:lstStyle/>
          <a:p>
            <a:r>
              <a:rPr sz="3600" dirty="0" err="1"/>
              <a:t>BiLSTM</a:t>
            </a:r>
            <a:r>
              <a:rPr sz="3600" dirty="0"/>
              <a:t>-based Indian Legal Case Summarization and Q&amp;A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1933" y="3601540"/>
            <a:ext cx="5308866" cy="1377651"/>
          </a:xfrm>
        </p:spPr>
        <p:txBody>
          <a:bodyPr>
            <a:noAutofit/>
          </a:bodyPr>
          <a:lstStyle/>
          <a:p>
            <a:r>
              <a:rPr dirty="0" smtClean="0"/>
              <a:t>Team </a:t>
            </a:r>
            <a:r>
              <a:rPr dirty="0"/>
              <a:t>Members:</a:t>
            </a:r>
          </a:p>
          <a:p>
            <a:r>
              <a:rPr dirty="0" err="1"/>
              <a:t>Prathmesh</a:t>
            </a:r>
            <a:r>
              <a:rPr dirty="0"/>
              <a:t> </a:t>
            </a:r>
            <a:r>
              <a:rPr dirty="0" err="1"/>
              <a:t>Dudhale</a:t>
            </a:r>
            <a:r>
              <a:rPr dirty="0"/>
              <a:t> | Aditya Joshi</a:t>
            </a:r>
          </a:p>
          <a:p>
            <a:r>
              <a:rPr dirty="0" err="1"/>
              <a:t>Aaditesh</a:t>
            </a:r>
            <a:r>
              <a:rPr dirty="0"/>
              <a:t> </a:t>
            </a:r>
            <a:r>
              <a:rPr dirty="0" err="1"/>
              <a:t>Kadu</a:t>
            </a:r>
            <a:r>
              <a:rPr dirty="0"/>
              <a:t> | Vedant Kale</a:t>
            </a:r>
          </a:p>
          <a:p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4814596" y="5804439"/>
            <a:ext cx="4572000" cy="101566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Guide: Mrs. </a:t>
            </a:r>
            <a:r>
              <a:rPr lang="en-GB" sz="2000" dirty="0" err="1">
                <a:solidFill>
                  <a:schemeClr val="bg1"/>
                </a:solidFill>
              </a:rPr>
              <a:t>Sushma</a:t>
            </a:r>
            <a:r>
              <a:rPr lang="en-GB" sz="2000" dirty="0">
                <a:solidFill>
                  <a:schemeClr val="bg1"/>
                </a:solidFill>
              </a:rPr>
              <a:t> </a:t>
            </a:r>
            <a:r>
              <a:rPr lang="en-GB" sz="2000" dirty="0" err="1">
                <a:solidFill>
                  <a:schemeClr val="bg1"/>
                </a:solidFill>
              </a:rPr>
              <a:t>Vispute</a:t>
            </a:r>
            <a:endParaRPr lang="en-GB" sz="2000" dirty="0">
              <a:solidFill>
                <a:schemeClr val="bg1"/>
              </a:solidFill>
            </a:endParaRPr>
          </a:p>
          <a:p>
            <a:r>
              <a:rPr lang="en-GB" sz="2000" dirty="0">
                <a:solidFill>
                  <a:schemeClr val="bg1"/>
                </a:solidFill>
              </a:rPr>
              <a:t>Department of Computer Engineering</a:t>
            </a:r>
          </a:p>
          <a:p>
            <a:r>
              <a:rPr lang="en-GB" sz="2000" dirty="0" err="1">
                <a:solidFill>
                  <a:schemeClr val="bg1"/>
                </a:solidFill>
              </a:rPr>
              <a:t>Pimpri</a:t>
            </a:r>
            <a:r>
              <a:rPr lang="en-GB" sz="2000" dirty="0">
                <a:solidFill>
                  <a:schemeClr val="bg1"/>
                </a:solidFill>
              </a:rPr>
              <a:t> </a:t>
            </a:r>
            <a:r>
              <a:rPr lang="en-GB" sz="2000" dirty="0" err="1">
                <a:solidFill>
                  <a:schemeClr val="bg1"/>
                </a:solidFill>
              </a:rPr>
              <a:t>Chinchwad</a:t>
            </a:r>
            <a:r>
              <a:rPr lang="en-GB" sz="2000" dirty="0">
                <a:solidFill>
                  <a:schemeClr val="bg1"/>
                </a:solidFill>
              </a:rPr>
              <a:t> College of Engineering</a:t>
            </a:r>
            <a:endParaRPr lang="en-GB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1390262" y="1522035"/>
            <a:ext cx="5206481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Problem Statement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Literature Survey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Objectives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Project Timeline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System Architecture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Tools &amp; Technologies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Module Implementation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Testing &amp; Validation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Paper Publication Details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Conclusion</a:t>
            </a:r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1176866" y="766047"/>
            <a:ext cx="6798734" cy="130386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0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sz="4800" dirty="0" smtClean="0"/>
              <a:t>Index</a:t>
            </a:r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800" dirty="0" smtClean="0"/>
              <a:t>Problem Statement</a:t>
            </a:r>
            <a:endParaRPr sz="4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7788" y="2490135"/>
            <a:ext cx="7604449" cy="3444997"/>
          </a:xfrm>
        </p:spPr>
        <p:txBody>
          <a:bodyPr>
            <a:noAutofit/>
          </a:bodyPr>
          <a:lstStyle/>
          <a:p>
            <a:pPr algn="just"/>
            <a:r>
              <a:rPr lang="en-GB" sz="2800" dirty="0"/>
              <a:t>Indian legal documents are extremely lengthy, complex, and time-consuming to read manually. Lawyers, researchers, and students struggle to extract key information quickly. There is a need for an automated system that can summarize legal judgments and answer questions </a:t>
            </a:r>
            <a:r>
              <a:rPr lang="en-GB" sz="2800" dirty="0" smtClean="0"/>
              <a:t>accurately.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1953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Topic &amp;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2082" y="2312854"/>
            <a:ext cx="8108301" cy="3444997"/>
          </a:xfrm>
        </p:spPr>
        <p:txBody>
          <a:bodyPr>
            <a:noAutofit/>
          </a:bodyPr>
          <a:lstStyle/>
          <a:p>
            <a:r>
              <a:rPr sz="2000" dirty="0"/>
              <a:t>Project Topic</a:t>
            </a:r>
          </a:p>
          <a:p>
            <a:pPr lvl="1"/>
            <a:r>
              <a:rPr sz="1800" dirty="0"/>
              <a:t>Automated processing of Indian legal documents (Judgments, Case Briefs) using Deep Learning.</a:t>
            </a:r>
          </a:p>
          <a:p>
            <a:r>
              <a:rPr sz="2000" dirty="0"/>
              <a:t>Complexity of Work</a:t>
            </a:r>
          </a:p>
          <a:p>
            <a:pPr lvl="1"/>
            <a:r>
              <a:rPr sz="1800" dirty="0"/>
              <a:t>Implementation of </a:t>
            </a:r>
            <a:r>
              <a:rPr sz="1800" dirty="0" err="1"/>
              <a:t>BiLSTM</a:t>
            </a:r>
            <a:r>
              <a:rPr sz="1800" dirty="0"/>
              <a:t> Encoder-Decoder architecture with Attention Mechanism.</a:t>
            </a:r>
          </a:p>
          <a:p>
            <a:pPr lvl="1"/>
            <a:r>
              <a:rPr sz="1800" dirty="0"/>
              <a:t>Custom NLP pipeline: Tokenization, </a:t>
            </a:r>
            <a:r>
              <a:rPr sz="1800" dirty="0" err="1"/>
              <a:t>GloVe</a:t>
            </a:r>
            <a:r>
              <a:rPr sz="1800" dirty="0"/>
              <a:t> </a:t>
            </a:r>
            <a:r>
              <a:rPr sz="1800" dirty="0" err="1"/>
              <a:t>Embeddings</a:t>
            </a:r>
            <a:r>
              <a:rPr sz="1800" dirty="0"/>
              <a:t> (300d), Sequence Padding.</a:t>
            </a:r>
          </a:p>
          <a:p>
            <a:r>
              <a:rPr sz="2000" dirty="0" smtClean="0"/>
              <a:t>Sustainability</a:t>
            </a:r>
            <a:endParaRPr sz="2000" dirty="0"/>
          </a:p>
          <a:p>
            <a:pPr lvl="1"/>
            <a:r>
              <a:rPr sz="1800" dirty="0"/>
              <a:t>Modular architecture allows future integration of Transformers (BERT/GPT).</a:t>
            </a:r>
          </a:p>
        </p:txBody>
      </p:sp>
    </p:spTree>
    <p:extLst>
      <p:ext uri="{BB962C8B-B14F-4D97-AF65-F5344CB8AC3E}">
        <p14:creationId xmlns:p14="http://schemas.microsoft.com/office/powerpoint/2010/main" val="37972705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Literature Survey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2020" y="2004600"/>
            <a:ext cx="7688425" cy="3444997"/>
          </a:xfrm>
        </p:spPr>
        <p:txBody>
          <a:bodyPr>
            <a:noAutofit/>
          </a:bodyPr>
          <a:lstStyle/>
          <a:p>
            <a:endParaRPr dirty="0"/>
          </a:p>
          <a:p>
            <a:r>
              <a:rPr dirty="0"/>
              <a:t>Key Foundation: Nigam et al. (2023)</a:t>
            </a:r>
          </a:p>
          <a:p>
            <a:pPr lvl="1"/>
            <a:r>
              <a:rPr dirty="0"/>
              <a:t>Analyzed AI for Indian Legal Q&amp;A; highlighted complexity of Indian criminal justice system.</a:t>
            </a:r>
          </a:p>
          <a:p>
            <a:r>
              <a:rPr dirty="0"/>
              <a:t>Legal Summarization: </a:t>
            </a:r>
            <a:r>
              <a:rPr dirty="0" err="1"/>
              <a:t>Akter</a:t>
            </a:r>
            <a:r>
              <a:rPr dirty="0"/>
              <a:t> et al. (2025)</a:t>
            </a:r>
          </a:p>
          <a:p>
            <a:pPr lvl="1"/>
            <a:r>
              <a:rPr dirty="0"/>
              <a:t>Identified gaps in domain-centric benchmarking for legal texts.</a:t>
            </a:r>
          </a:p>
          <a:p>
            <a:r>
              <a:rPr dirty="0"/>
              <a:t>Research Gaps Addressed</a:t>
            </a:r>
          </a:p>
          <a:p>
            <a:pPr lvl="1"/>
            <a:r>
              <a:rPr dirty="0"/>
              <a:t>Lack of baseline systems specifically for Indian Legal Datasets.</a:t>
            </a:r>
          </a:p>
          <a:p>
            <a:pPr lvl="1"/>
            <a:r>
              <a:rPr dirty="0"/>
              <a:t>Absence of production-ready interfaces for legal practitioners.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Requirement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1265" y="1911638"/>
            <a:ext cx="7509935" cy="3444997"/>
          </a:xfrm>
        </p:spPr>
        <p:txBody>
          <a:bodyPr>
            <a:noAutofit/>
          </a:bodyPr>
          <a:lstStyle/>
          <a:p>
            <a:endParaRPr sz="2000" dirty="0"/>
          </a:p>
          <a:p>
            <a:r>
              <a:rPr sz="2000" dirty="0"/>
              <a:t>Functional Requirements</a:t>
            </a:r>
          </a:p>
          <a:p>
            <a:pPr lvl="1"/>
            <a:r>
              <a:rPr sz="1800" dirty="0"/>
              <a:t>Input: PDF/DOCX Legal Documents.</a:t>
            </a:r>
          </a:p>
          <a:p>
            <a:pPr lvl="1"/>
            <a:r>
              <a:rPr sz="1800" dirty="0"/>
              <a:t>Core: Abstractive Summarization &amp; Fact-based Q&amp;A.</a:t>
            </a:r>
          </a:p>
          <a:p>
            <a:r>
              <a:rPr sz="2000" dirty="0"/>
              <a:t>Non-Functional Requirements</a:t>
            </a:r>
          </a:p>
          <a:p>
            <a:pPr lvl="1"/>
            <a:r>
              <a:rPr sz="1800" dirty="0"/>
              <a:t>Performance: High ROUGE-L scores </a:t>
            </a:r>
            <a:r>
              <a:rPr sz="1800" dirty="0" smtClean="0"/>
              <a:t>(&gt;</a:t>
            </a:r>
            <a:r>
              <a:rPr lang="en-IN" sz="1800" dirty="0"/>
              <a:t> </a:t>
            </a:r>
            <a:r>
              <a:rPr lang="en-IN" sz="1800" dirty="0" smtClean="0"/>
              <a:t>0.70 </a:t>
            </a:r>
            <a:r>
              <a:rPr sz="1800" dirty="0" smtClean="0"/>
              <a:t>).</a:t>
            </a:r>
            <a:endParaRPr sz="1800" dirty="0"/>
          </a:p>
          <a:p>
            <a:pPr lvl="1"/>
            <a:r>
              <a:rPr sz="1800" dirty="0"/>
              <a:t>Latency: Near real-time processing (&lt;6s per doc).</a:t>
            </a:r>
          </a:p>
          <a:p>
            <a:r>
              <a:rPr sz="2000" dirty="0"/>
              <a:t>Dataset Requirements</a:t>
            </a:r>
          </a:p>
          <a:p>
            <a:pPr lvl="1"/>
            <a:r>
              <a:rPr sz="1800" dirty="0"/>
              <a:t>Source: Supreme Court &amp; High Court </a:t>
            </a:r>
            <a:r>
              <a:rPr sz="1800" dirty="0" smtClean="0"/>
              <a:t>Judgments</a:t>
            </a:r>
            <a:r>
              <a:rPr lang="en-IN" sz="1800" dirty="0" smtClean="0"/>
              <a:t> (Web Scraping)</a:t>
            </a:r>
            <a:r>
              <a:rPr sz="1800" dirty="0" smtClean="0"/>
              <a:t>.</a:t>
            </a:r>
            <a:endParaRPr sz="1800" dirty="0"/>
          </a:p>
          <a:p>
            <a:pPr lvl="1"/>
            <a:r>
              <a:rPr sz="1800" dirty="0"/>
              <a:t>Size: 150 Documents (2000 - 50,000 words each).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4441" y="1567270"/>
            <a:ext cx="7557796" cy="344499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endParaRPr lang="en-GB" sz="32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GB" sz="2800" dirty="0"/>
              <a:t>• Automate summarization of Indian legal docs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GB" sz="2800" dirty="0"/>
              <a:t>• Provide Q&amp;A from legal judgements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GB" sz="2800" dirty="0"/>
              <a:t>• Use </a:t>
            </a:r>
            <a:r>
              <a:rPr lang="en-GB" sz="2800" dirty="0" err="1"/>
              <a:t>BiLSTM+Attention</a:t>
            </a:r>
            <a:r>
              <a:rPr lang="en-GB" sz="2800" dirty="0"/>
              <a:t> for baseline model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GB" sz="2800" dirty="0"/>
              <a:t>• Ensure measurable accuracy &amp; performance</a:t>
            </a:r>
            <a:endParaRPr lang="en-GB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Planning Timeline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4440" y="1567270"/>
            <a:ext cx="8220269" cy="44548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GB" sz="3200" dirty="0"/>
          </a:p>
          <a:p>
            <a:pPr lvl="1">
              <a:lnSpc>
                <a:spcPct val="150000"/>
              </a:lnSpc>
            </a:pPr>
            <a:r>
              <a:rPr lang="en-GB" sz="3200" dirty="0"/>
              <a:t>• Phase 1: Dataset + </a:t>
            </a:r>
            <a:r>
              <a:rPr lang="en-GB" sz="3200" dirty="0" err="1"/>
              <a:t>Preprocessing</a:t>
            </a:r>
            <a:endParaRPr lang="en-GB" sz="3200" dirty="0"/>
          </a:p>
          <a:p>
            <a:pPr lvl="1">
              <a:lnSpc>
                <a:spcPct val="150000"/>
              </a:lnSpc>
            </a:pPr>
            <a:r>
              <a:rPr lang="en-GB" sz="3200" dirty="0"/>
              <a:t>• Phase 2: Model Development</a:t>
            </a:r>
          </a:p>
          <a:p>
            <a:pPr lvl="1">
              <a:lnSpc>
                <a:spcPct val="150000"/>
              </a:lnSpc>
            </a:pPr>
            <a:r>
              <a:rPr lang="en-GB" sz="3200" dirty="0"/>
              <a:t>• Phase 3: Evaluation &amp; Metrics</a:t>
            </a:r>
          </a:p>
          <a:p>
            <a:pPr lvl="1">
              <a:lnSpc>
                <a:spcPct val="150000"/>
              </a:lnSpc>
            </a:pPr>
            <a:r>
              <a:rPr lang="en-GB" sz="3200" dirty="0"/>
              <a:t>• Phase 4: UI + Deployment</a:t>
            </a:r>
          </a:p>
          <a:p>
            <a:pPr lvl="1">
              <a:lnSpc>
                <a:spcPct val="150000"/>
              </a:lnSpc>
            </a:pPr>
            <a:r>
              <a:rPr lang="en-GB" sz="3200" dirty="0"/>
              <a:t>• Phase 5: Paper publication</a:t>
            </a:r>
            <a:endParaRPr lang="en-GB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42" y="2692276"/>
            <a:ext cx="3632202" cy="1371600"/>
          </a:xfrm>
        </p:spPr>
        <p:txBody>
          <a:bodyPr>
            <a:noAutofit/>
          </a:bodyPr>
          <a:lstStyle/>
          <a:p>
            <a:r>
              <a:rPr sz="4400" dirty="0"/>
              <a:t>System Architecture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133" y="696967"/>
            <a:ext cx="2647149" cy="536221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42" y="2692276"/>
            <a:ext cx="3632202" cy="1371600"/>
          </a:xfrm>
        </p:spPr>
        <p:txBody>
          <a:bodyPr>
            <a:noAutofit/>
          </a:bodyPr>
          <a:lstStyle/>
          <a:p>
            <a:r>
              <a:rPr lang="en-IN" sz="4400" dirty="0" smtClean="0"/>
              <a:t>Model</a:t>
            </a:r>
            <a:r>
              <a:rPr sz="4400" dirty="0" smtClean="0"/>
              <a:t> </a:t>
            </a:r>
            <a:r>
              <a:rPr sz="4400" dirty="0"/>
              <a:t>Architecture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5975" y="795399"/>
            <a:ext cx="2873829" cy="53441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89162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Design &amp;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0920" y="1892633"/>
            <a:ext cx="7556589" cy="3444997"/>
          </a:xfrm>
        </p:spPr>
        <p:txBody>
          <a:bodyPr>
            <a:noAutofit/>
          </a:bodyPr>
          <a:lstStyle/>
          <a:p>
            <a:endParaRPr dirty="0"/>
          </a:p>
          <a:p>
            <a:r>
              <a:rPr dirty="0"/>
              <a:t>Dataset Composition</a:t>
            </a:r>
          </a:p>
          <a:p>
            <a:pPr lvl="1"/>
            <a:r>
              <a:rPr sz="1800" dirty="0"/>
              <a:t>Total Documents: 150 (Indian Legal Context)</a:t>
            </a:r>
          </a:p>
          <a:p>
            <a:pPr lvl="1"/>
            <a:r>
              <a:rPr sz="1800" dirty="0"/>
              <a:t>Split: 120 Training / 30 Testing.</a:t>
            </a:r>
          </a:p>
          <a:p>
            <a:pPr lvl="1"/>
            <a:r>
              <a:rPr sz="1800" dirty="0"/>
              <a:t>Types: Criminal, Civil, Constitutional, Corporate Law.</a:t>
            </a:r>
          </a:p>
          <a:p>
            <a:r>
              <a:rPr dirty="0"/>
              <a:t>Preprocessing Steps</a:t>
            </a:r>
          </a:p>
          <a:p>
            <a:pPr lvl="1"/>
            <a:r>
              <a:rPr sz="1800" dirty="0"/>
              <a:t>Text Cleaning: Regex removal of special characters/non-alphanumeric.</a:t>
            </a:r>
          </a:p>
          <a:p>
            <a:pPr lvl="1"/>
            <a:r>
              <a:rPr sz="1800" dirty="0"/>
              <a:t>Tokenization: Word-level tokenization (Vocab limit: 20,000).</a:t>
            </a:r>
          </a:p>
          <a:p>
            <a:pPr lvl="1"/>
            <a:r>
              <a:rPr sz="1800" dirty="0"/>
              <a:t>Padding: Max Text Length = 400, Max Summary Length = 60.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473343"/>
            <a:ext cx="6798735" cy="1303867"/>
          </a:xfrm>
        </p:spPr>
        <p:txBody>
          <a:bodyPr/>
          <a:lstStyle/>
          <a:p>
            <a:r>
              <a:rPr dirty="0"/>
              <a:t>Tools &amp; Technologies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918632" y="1777210"/>
            <a:ext cx="3657600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dirty="0"/>
              <a:t>Languages &amp; Core</a:t>
            </a:r>
          </a:p>
          <a:p>
            <a:endParaRPr sz="2000" dirty="0"/>
          </a:p>
          <a:p>
            <a:r>
              <a:rPr sz="2000" dirty="0"/>
              <a:t>Python 3.12</a:t>
            </a:r>
          </a:p>
          <a:p>
            <a:r>
              <a:rPr sz="2000" dirty="0" err="1"/>
              <a:t>NumPy</a:t>
            </a:r>
            <a:endParaRPr sz="2000" dirty="0"/>
          </a:p>
          <a:p>
            <a:r>
              <a:rPr sz="2000" dirty="0"/>
              <a:t>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6232" y="1777210"/>
            <a:ext cx="3657600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dirty="0"/>
              <a:t>Deep Learning</a:t>
            </a:r>
          </a:p>
          <a:p>
            <a:endParaRPr sz="2000" dirty="0"/>
          </a:p>
          <a:p>
            <a:r>
              <a:rPr sz="2000" dirty="0" err="1"/>
              <a:t>TensorFlow</a:t>
            </a:r>
            <a:r>
              <a:rPr sz="2000" dirty="0"/>
              <a:t> / </a:t>
            </a:r>
            <a:r>
              <a:rPr sz="2000" dirty="0" err="1"/>
              <a:t>Keras</a:t>
            </a:r>
            <a:endParaRPr sz="2000" dirty="0"/>
          </a:p>
          <a:p>
            <a:r>
              <a:rPr sz="2000" dirty="0" err="1"/>
              <a:t>GloVe</a:t>
            </a:r>
            <a:r>
              <a:rPr sz="2000" dirty="0"/>
              <a:t> </a:t>
            </a:r>
            <a:r>
              <a:rPr sz="2000" dirty="0" err="1"/>
              <a:t>Embeddings</a:t>
            </a:r>
            <a:endParaRPr sz="2000" dirty="0"/>
          </a:p>
          <a:p>
            <a:r>
              <a:rPr sz="2000" dirty="0" err="1"/>
              <a:t>Scikit</a:t>
            </a:r>
            <a:r>
              <a:rPr sz="2000" dirty="0"/>
              <a:t>-Learn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8632" y="3606010"/>
            <a:ext cx="3657600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dirty="0"/>
              <a:t>Backend &amp; Database</a:t>
            </a:r>
          </a:p>
          <a:p>
            <a:endParaRPr sz="2000" dirty="0"/>
          </a:p>
          <a:p>
            <a:r>
              <a:rPr sz="2000" dirty="0"/>
              <a:t>Flask (Python)</a:t>
            </a:r>
          </a:p>
          <a:p>
            <a:r>
              <a:rPr sz="2000" dirty="0"/>
              <a:t>MongoDB Atlas</a:t>
            </a:r>
          </a:p>
          <a:p>
            <a:r>
              <a:rPr sz="2000" dirty="0"/>
              <a:t>Pickle (Serialization)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6232" y="3606010"/>
            <a:ext cx="3657600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dirty="0"/>
              <a:t>Infrastructure</a:t>
            </a:r>
          </a:p>
          <a:p>
            <a:endParaRPr sz="2000" dirty="0"/>
          </a:p>
          <a:p>
            <a:r>
              <a:rPr sz="2000" dirty="0"/>
              <a:t>Google </a:t>
            </a:r>
            <a:r>
              <a:rPr sz="2000" dirty="0" err="1"/>
              <a:t>Colab</a:t>
            </a:r>
            <a:r>
              <a:rPr sz="2000" dirty="0"/>
              <a:t> (T4 GPU)</a:t>
            </a:r>
          </a:p>
          <a:p>
            <a:r>
              <a:rPr sz="2000" dirty="0"/>
              <a:t>CUDA 11.3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21" y="915337"/>
            <a:ext cx="7903028" cy="1303867"/>
          </a:xfrm>
        </p:spPr>
        <p:txBody>
          <a:bodyPr>
            <a:normAutofit fontScale="90000"/>
          </a:bodyPr>
          <a:lstStyle/>
          <a:p>
            <a:r>
              <a:rPr dirty="0"/>
              <a:t>Algorithm: Stacked </a:t>
            </a:r>
            <a:r>
              <a:rPr dirty="0" err="1"/>
              <a:t>BiLSTM</a:t>
            </a:r>
            <a:r>
              <a:rPr dirty="0"/>
              <a:t> + Attention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0963" y="1864711"/>
            <a:ext cx="7677886" cy="3444997"/>
          </a:xfrm>
        </p:spPr>
        <p:txBody>
          <a:bodyPr>
            <a:noAutofit/>
          </a:bodyPr>
          <a:lstStyle/>
          <a:p>
            <a:endParaRPr sz="2000" dirty="0"/>
          </a:p>
          <a:p>
            <a:r>
              <a:rPr sz="2000" dirty="0"/>
              <a:t>Encoder</a:t>
            </a:r>
          </a:p>
          <a:p>
            <a:pPr lvl="1"/>
            <a:r>
              <a:rPr dirty="0"/>
              <a:t>Input: Tokenized Sequence (400)</a:t>
            </a:r>
          </a:p>
          <a:p>
            <a:pPr lvl="1"/>
            <a:r>
              <a:rPr dirty="0"/>
              <a:t>Layers: Embedding (</a:t>
            </a:r>
            <a:r>
              <a:rPr dirty="0" err="1"/>
              <a:t>GloVe</a:t>
            </a:r>
            <a:r>
              <a:rPr dirty="0"/>
              <a:t>) -&gt; </a:t>
            </a:r>
            <a:r>
              <a:rPr dirty="0" err="1"/>
              <a:t>BiLSTM</a:t>
            </a:r>
            <a:r>
              <a:rPr dirty="0"/>
              <a:t> (Layer 1) -&gt; </a:t>
            </a:r>
            <a:r>
              <a:rPr dirty="0" err="1"/>
              <a:t>LayerNorm</a:t>
            </a:r>
            <a:r>
              <a:rPr dirty="0"/>
              <a:t> -&gt; </a:t>
            </a:r>
            <a:r>
              <a:rPr dirty="0" err="1"/>
              <a:t>BiLSTM</a:t>
            </a:r>
            <a:r>
              <a:rPr dirty="0"/>
              <a:t> (Layer 2)</a:t>
            </a:r>
          </a:p>
          <a:p>
            <a:pPr lvl="1"/>
            <a:r>
              <a:rPr dirty="0"/>
              <a:t>Output: Forward &amp; Backward Hidden States</a:t>
            </a:r>
          </a:p>
          <a:p>
            <a:r>
              <a:rPr sz="2000" dirty="0"/>
              <a:t>Decoder with Attention</a:t>
            </a:r>
          </a:p>
          <a:p>
            <a:pPr lvl="1"/>
            <a:r>
              <a:rPr dirty="0"/>
              <a:t>Context Vector: Calculated via Attention Weights on Encoder States.</a:t>
            </a:r>
          </a:p>
          <a:p>
            <a:pPr lvl="1"/>
            <a:r>
              <a:rPr dirty="0"/>
              <a:t>Generation: LSTM Decoder predicts next word using Context Vector + Previous Word.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Implementation Details (50%)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2473" y="1781009"/>
            <a:ext cx="8070979" cy="3444997"/>
          </a:xfrm>
        </p:spPr>
        <p:txBody>
          <a:bodyPr>
            <a:noAutofit/>
          </a:bodyPr>
          <a:lstStyle/>
          <a:p>
            <a:endParaRPr sz="2800" dirty="0"/>
          </a:p>
          <a:p>
            <a:r>
              <a:rPr sz="2800" dirty="0"/>
              <a:t>Model Specifications:</a:t>
            </a:r>
          </a:p>
          <a:p>
            <a:pPr lvl="1"/>
            <a:r>
              <a:rPr dirty="0"/>
              <a:t>Total </a:t>
            </a:r>
            <a:r>
              <a:rPr dirty="0" err="1"/>
              <a:t>Params</a:t>
            </a:r>
            <a:r>
              <a:rPr dirty="0"/>
              <a:t>: 3,897,996 (Trainable)</a:t>
            </a:r>
          </a:p>
          <a:p>
            <a:pPr lvl="1"/>
            <a:r>
              <a:rPr dirty="0"/>
              <a:t>Embedding Dim: 100 | Hidden Units: 256</a:t>
            </a:r>
          </a:p>
          <a:p>
            <a:pPr lvl="1"/>
            <a:r>
              <a:rPr dirty="0"/>
              <a:t>Optimizer: Adam (LR=0.001) | Loss: Sparse Categorical </a:t>
            </a:r>
            <a:r>
              <a:rPr dirty="0" err="1"/>
              <a:t>Crossentropy</a:t>
            </a:r>
            <a:endParaRPr dirty="0"/>
          </a:p>
          <a:p>
            <a:r>
              <a:rPr sz="2800" dirty="0"/>
              <a:t>Training Progress:</a:t>
            </a:r>
          </a:p>
          <a:p>
            <a:pPr lvl="1"/>
            <a:r>
              <a:rPr dirty="0"/>
              <a:t>Epochs: 25</a:t>
            </a:r>
          </a:p>
          <a:p>
            <a:pPr lvl="1"/>
            <a:r>
              <a:rPr dirty="0"/>
              <a:t>Initial Loss: 5.02 -&gt; Final Loss: 0.47</a:t>
            </a:r>
          </a:p>
          <a:p>
            <a:pPr lvl="1"/>
            <a:r>
              <a:rPr dirty="0"/>
              <a:t>Initial Accuracy: 9.6% -&gt; Final Accuracy: 86.3%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&amp; Validation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9797" y="1874315"/>
            <a:ext cx="8677468" cy="3444997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dirty="0"/>
          </a:p>
          <a:p>
            <a:r>
              <a:rPr dirty="0"/>
              <a:t>Summarization Metrics (Evaluation on 40 Docs)</a:t>
            </a:r>
          </a:p>
          <a:p>
            <a:pPr lvl="1"/>
            <a:r>
              <a:rPr sz="1800" dirty="0"/>
              <a:t>ROUGE-L Score: </a:t>
            </a:r>
            <a:r>
              <a:rPr sz="1800" dirty="0" smtClean="0"/>
              <a:t>0.7</a:t>
            </a:r>
            <a:r>
              <a:rPr lang="en-IN" sz="1800" dirty="0" smtClean="0"/>
              <a:t>038</a:t>
            </a:r>
            <a:r>
              <a:rPr sz="1800" dirty="0" smtClean="0"/>
              <a:t> </a:t>
            </a:r>
            <a:r>
              <a:rPr sz="1800" dirty="0"/>
              <a:t>(High semantic overlap)</a:t>
            </a:r>
          </a:p>
          <a:p>
            <a:pPr lvl="1"/>
            <a:r>
              <a:rPr sz="1800" dirty="0"/>
              <a:t>BLEU Score: </a:t>
            </a:r>
            <a:r>
              <a:rPr sz="1800" dirty="0" smtClean="0"/>
              <a:t>0.</a:t>
            </a:r>
            <a:r>
              <a:rPr lang="en-IN" sz="1800" dirty="0" smtClean="0"/>
              <a:t>5041</a:t>
            </a:r>
            <a:r>
              <a:rPr sz="1800" dirty="0" smtClean="0"/>
              <a:t>(Translation </a:t>
            </a:r>
            <a:r>
              <a:rPr sz="1800" dirty="0"/>
              <a:t>quality)</a:t>
            </a:r>
          </a:p>
          <a:p>
            <a:r>
              <a:rPr dirty="0"/>
              <a:t>Q&amp;A Performance</a:t>
            </a:r>
          </a:p>
          <a:p>
            <a:pPr lvl="1"/>
            <a:r>
              <a:rPr sz="1800" dirty="0"/>
              <a:t>F1-Score: </a:t>
            </a:r>
            <a:r>
              <a:rPr sz="1800" dirty="0" smtClean="0"/>
              <a:t>7</a:t>
            </a:r>
            <a:r>
              <a:rPr lang="en-IN" sz="1800" dirty="0" smtClean="0"/>
              <a:t>3</a:t>
            </a:r>
            <a:r>
              <a:rPr sz="1800" dirty="0" smtClean="0"/>
              <a:t>.</a:t>
            </a:r>
            <a:r>
              <a:rPr lang="en-IN" sz="1800" dirty="0" smtClean="0"/>
              <a:t>03</a:t>
            </a:r>
            <a:r>
              <a:rPr sz="1800" dirty="0" smtClean="0"/>
              <a:t>%</a:t>
            </a:r>
            <a:endParaRPr sz="1800" dirty="0"/>
          </a:p>
          <a:p>
            <a:r>
              <a:rPr dirty="0" smtClean="0"/>
              <a:t>System </a:t>
            </a:r>
            <a:r>
              <a:rPr dirty="0"/>
              <a:t>Performance</a:t>
            </a:r>
          </a:p>
          <a:p>
            <a:pPr lvl="1"/>
            <a:r>
              <a:rPr sz="1800" dirty="0" err="1"/>
              <a:t>Avg</a:t>
            </a:r>
            <a:r>
              <a:rPr sz="1800" dirty="0"/>
              <a:t> Processing Time: 5.1 seconds/document</a:t>
            </a:r>
          </a:p>
          <a:p>
            <a:pPr lvl="1"/>
            <a:r>
              <a:rPr sz="1800" dirty="0"/>
              <a:t>Throughput: ~702 documents/hour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Paper Publication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9087" y="1919831"/>
            <a:ext cx="7707084" cy="3444997"/>
          </a:xfrm>
        </p:spPr>
        <p:txBody>
          <a:bodyPr>
            <a:noAutofit/>
          </a:bodyPr>
          <a:lstStyle/>
          <a:p>
            <a:endParaRPr dirty="0"/>
          </a:p>
          <a:p>
            <a:r>
              <a:rPr sz="2000" dirty="0"/>
              <a:t>Title:</a:t>
            </a:r>
          </a:p>
          <a:p>
            <a:pPr lvl="1"/>
            <a:r>
              <a:rPr sz="1800" dirty="0"/>
              <a:t>"</a:t>
            </a:r>
            <a:r>
              <a:rPr sz="1800" dirty="0" err="1"/>
              <a:t>BiLSTM</a:t>
            </a:r>
            <a:r>
              <a:rPr sz="1800" dirty="0"/>
              <a:t>-Based Indian Legal Case Summarization and Q&amp;A: A Baseline Implementation with Transformer Extension"</a:t>
            </a:r>
          </a:p>
          <a:p>
            <a:r>
              <a:rPr sz="2000" dirty="0"/>
              <a:t>Authors:</a:t>
            </a:r>
          </a:p>
          <a:p>
            <a:pPr lvl="1"/>
            <a:r>
              <a:rPr lang="en-IN" sz="1800" dirty="0" err="1" smtClean="0"/>
              <a:t>Sushma</a:t>
            </a:r>
            <a:r>
              <a:rPr lang="en-IN" sz="1800" dirty="0" smtClean="0"/>
              <a:t> </a:t>
            </a:r>
            <a:r>
              <a:rPr lang="en-IN" sz="1800" dirty="0" err="1" smtClean="0"/>
              <a:t>Vispute</a:t>
            </a:r>
            <a:r>
              <a:rPr lang="en-IN" sz="1800" dirty="0" smtClean="0"/>
              <a:t> Mam, </a:t>
            </a:r>
            <a:r>
              <a:rPr sz="1800" dirty="0" err="1" smtClean="0"/>
              <a:t>Prathmesh</a:t>
            </a:r>
            <a:r>
              <a:rPr sz="1800" dirty="0" smtClean="0"/>
              <a:t> </a:t>
            </a:r>
            <a:r>
              <a:rPr sz="1800" dirty="0" err="1"/>
              <a:t>Dudhale</a:t>
            </a:r>
            <a:r>
              <a:rPr sz="1800" dirty="0"/>
              <a:t>, Aditya Joshi, </a:t>
            </a:r>
            <a:r>
              <a:rPr sz="1800" dirty="0" err="1"/>
              <a:t>Aaditesh</a:t>
            </a:r>
            <a:r>
              <a:rPr sz="1800" dirty="0"/>
              <a:t> </a:t>
            </a:r>
            <a:r>
              <a:rPr sz="1800" dirty="0" err="1"/>
              <a:t>Kadu</a:t>
            </a:r>
            <a:r>
              <a:rPr sz="1800" dirty="0"/>
              <a:t>, Vedant Kale</a:t>
            </a:r>
          </a:p>
          <a:p>
            <a:r>
              <a:rPr sz="2000" dirty="0"/>
              <a:t>Abstract Summary:</a:t>
            </a:r>
          </a:p>
          <a:p>
            <a:pPr lvl="1"/>
            <a:r>
              <a:rPr sz="1800" dirty="0"/>
              <a:t>Proposes a comprehensive system based on </a:t>
            </a:r>
            <a:r>
              <a:rPr sz="1800" dirty="0" err="1"/>
              <a:t>BiLSTM</a:t>
            </a:r>
            <a:r>
              <a:rPr sz="1800" dirty="0"/>
              <a:t> for processing legal documents, tested on 150 documents. Establishes a solid baseline (ROUGE-L </a:t>
            </a:r>
            <a:r>
              <a:rPr lang="en-IN" sz="1800" dirty="0"/>
              <a:t>0.7038 </a:t>
            </a:r>
            <a:r>
              <a:rPr sz="1800" dirty="0" smtClean="0"/>
              <a:t>) </a:t>
            </a:r>
            <a:r>
              <a:rPr sz="1800" dirty="0"/>
              <a:t>while identifying the need for Transformer architectures for complex reasoning.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6727" y="2060926"/>
            <a:ext cx="7959012" cy="3444997"/>
          </a:xfrm>
        </p:spPr>
        <p:txBody>
          <a:bodyPr>
            <a:noAutofit/>
          </a:bodyPr>
          <a:lstStyle/>
          <a:p>
            <a:endParaRPr dirty="0"/>
          </a:p>
          <a:p>
            <a:r>
              <a:rPr dirty="0"/>
              <a:t>Conclusion</a:t>
            </a:r>
          </a:p>
          <a:p>
            <a:pPr lvl="1"/>
            <a:r>
              <a:rPr sz="1800" dirty="0"/>
              <a:t>Successfully implemented a production-ready </a:t>
            </a:r>
            <a:r>
              <a:rPr sz="1800" dirty="0" err="1"/>
              <a:t>BiLSTM</a:t>
            </a:r>
            <a:r>
              <a:rPr sz="1800" dirty="0"/>
              <a:t> Legal AI system.</a:t>
            </a:r>
          </a:p>
          <a:p>
            <a:pPr lvl="1"/>
            <a:r>
              <a:rPr sz="1800" dirty="0"/>
              <a:t>Verified performance with </a:t>
            </a:r>
            <a:r>
              <a:rPr sz="1800" dirty="0" smtClean="0"/>
              <a:t>ROUGE-L</a:t>
            </a:r>
            <a:r>
              <a:rPr lang="en-IN" sz="1800" dirty="0" smtClean="0"/>
              <a:t> </a:t>
            </a:r>
            <a:r>
              <a:rPr lang="en-IN" sz="1800" dirty="0"/>
              <a:t>0.7038</a:t>
            </a:r>
            <a:r>
              <a:rPr sz="1800" dirty="0" smtClean="0"/>
              <a:t> </a:t>
            </a:r>
            <a:r>
              <a:rPr sz="1800" dirty="0"/>
              <a:t>and high practitioner utility (Likert 3.74/5).</a:t>
            </a:r>
          </a:p>
          <a:p>
            <a:r>
              <a:rPr dirty="0"/>
              <a:t>Future Work</a:t>
            </a:r>
          </a:p>
          <a:p>
            <a:pPr lvl="1"/>
            <a:r>
              <a:rPr sz="1800" dirty="0"/>
              <a:t>Transformer Upgrade: Integrate LLMs (GPT-4/</a:t>
            </a:r>
            <a:r>
              <a:rPr sz="1800" dirty="0" err="1"/>
              <a:t>LLaMA</a:t>
            </a:r>
            <a:r>
              <a:rPr sz="1800" dirty="0"/>
              <a:t>) for better reasoning.</a:t>
            </a:r>
          </a:p>
          <a:p>
            <a:pPr lvl="1"/>
            <a:r>
              <a:rPr sz="1800" dirty="0"/>
              <a:t>RAG Integration: Retrieval-Augmented Generation for citing specific laws.</a:t>
            </a:r>
          </a:p>
          <a:p>
            <a:pPr lvl="1"/>
            <a:r>
              <a:rPr sz="1800" dirty="0"/>
              <a:t>Multimodal Support: Handling scanned images/handwritten notes.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B15E28"/>
      </a:accent1>
      <a:accent2>
        <a:srgbClr val="B13228"/>
      </a:accent2>
      <a:accent3>
        <a:srgbClr val="8B7B56"/>
      </a:accent3>
      <a:accent4>
        <a:srgbClr val="E09C41"/>
      </a:accent4>
      <a:accent5>
        <a:srgbClr val="9EAE51"/>
      </a:accent5>
      <a:accent6>
        <a:srgbClr val="6E7355"/>
      </a:accent6>
      <a:hlink>
        <a:srgbClr val="D37A21"/>
      </a:hlink>
      <a:folHlink>
        <a:srgbClr val="CA8F55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039A4B3-0617-4CFC-B614-27363ECC28A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28</TotalTime>
  <Words>792</Words>
  <Application>Microsoft Office PowerPoint</Application>
  <PresentationFormat>On-screen Show (4:3)</PresentationFormat>
  <Paragraphs>139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Garamond</vt:lpstr>
      <vt:lpstr>Organic</vt:lpstr>
      <vt:lpstr>BiLSTM-based Indian Legal Case Summarization and Q&amp;A System</vt:lpstr>
      <vt:lpstr>PowerPoint Presentation</vt:lpstr>
      <vt:lpstr>Problem Statement</vt:lpstr>
      <vt:lpstr>Project Topic &amp; Complexity</vt:lpstr>
      <vt:lpstr>Literature Survey</vt:lpstr>
      <vt:lpstr>Requirement Analysis</vt:lpstr>
      <vt:lpstr>Project Objectives</vt:lpstr>
      <vt:lpstr>Project Planning Timeline</vt:lpstr>
      <vt:lpstr>System Architecture</vt:lpstr>
      <vt:lpstr>Model Architecture</vt:lpstr>
      <vt:lpstr>Dataset Design &amp; Preprocessing</vt:lpstr>
      <vt:lpstr>Tools &amp; Technologies Stack</vt:lpstr>
      <vt:lpstr>Algorithm: Stacked BiLSTM + Attention</vt:lpstr>
      <vt:lpstr>Implementation Details (50%)</vt:lpstr>
      <vt:lpstr>Testing &amp; Validation Results</vt:lpstr>
      <vt:lpstr>Research Paper Publication</vt:lpstr>
      <vt:lpstr>Conclusion &amp; Future Work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BiLSTM-based Indian Legal Case Summarization and Q&amp;A System</dc:title>
  <dc:subject/>
  <dc:creator/>
  <cp:keywords/>
  <dc:description>generated using python-pptx</dc:description>
  <cp:lastModifiedBy>Vedant</cp:lastModifiedBy>
  <cp:revision>5</cp:revision>
  <dcterms:created xsi:type="dcterms:W3CDTF">2013-01-27T09:14:16Z</dcterms:created>
  <dcterms:modified xsi:type="dcterms:W3CDTF">2026-01-14T03:46:08Z</dcterms:modified>
  <cp:category/>
</cp:coreProperties>
</file>