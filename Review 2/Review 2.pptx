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80" r:id="rId12"/>
    <p:sldId id="281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83E1-A5BF-4FFD-87FF-B78A99845EE1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0B63E-813A-4913-8F91-E7D952492E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65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785" y="4343391"/>
            <a:ext cx="5486386" cy="411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152" tIns="80152" rIns="80152" bIns="80152" anchor="t" anchorCtr="0">
            <a:noAutofit/>
          </a:bodyPr>
          <a:lstStyle/>
          <a:p>
            <a:pPr>
              <a:buSzPts val="1100"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785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77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5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24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8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72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7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6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017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2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7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765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0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79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947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22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21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9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6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/>
          <p:nvPr/>
        </p:nvSpPr>
        <p:spPr>
          <a:xfrm>
            <a:off x="559836" y="564934"/>
            <a:ext cx="8005665" cy="5707801"/>
          </a:xfrm>
          <a:prstGeom prst="rect">
            <a:avLst/>
          </a:prstGeom>
          <a:noFill/>
          <a:ln w="57225" cap="flat" cmpd="sng">
            <a:solidFill>
              <a:srgbClr val="2E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100" dirty="0" smtClean="0">
                <a:latin typeface="Times New Roman" panose="02020603050405020304" pitchFamily="18" charset="0"/>
                <a:cs typeface="Times New Roman" pitchFamily="18" charset="0"/>
              </a:rPr>
              <a:t>A</a:t>
            </a:r>
            <a:br>
              <a:rPr lang="en-US" sz="11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  <a:t>Project Review-I</a:t>
            </a:r>
            <a: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  <a:t>I</a:t>
            </a:r>
            <a: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  <a:t> Presentation </a:t>
            </a:r>
            <a:b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  <a:t>on</a:t>
            </a:r>
            <a:b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GB" sz="1600" b="1" dirty="0" err="1"/>
              <a:t>BiLSTM</a:t>
            </a:r>
            <a:r>
              <a:rPr lang="en-GB" sz="1600" b="1" dirty="0"/>
              <a:t>-based Indian Legal Case Summarization and Q&amp;A System</a:t>
            </a:r>
            <a:endParaRPr lang="en-US" sz="1400" b="1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in partial fulfillment of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Final Year Computer Engineering Course- Major Project </a:t>
            </a: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IN" sz="1400" b="1" dirty="0" err="1"/>
              <a:t>Prathmesh</a:t>
            </a:r>
            <a:r>
              <a:rPr lang="en-IN" sz="1400" b="1" dirty="0"/>
              <a:t> </a:t>
            </a:r>
            <a:r>
              <a:rPr lang="en-IN" sz="1400" b="1" dirty="0" err="1"/>
              <a:t>Dudhale</a:t>
            </a:r>
            <a:r>
              <a:rPr lang="en-IN" sz="1400" b="1" dirty="0"/>
              <a:t> </a:t>
            </a:r>
            <a:r>
              <a:rPr lang="en-IN" sz="1400" b="1" dirty="0" smtClean="0"/>
              <a:t>(122B1B078)</a:t>
            </a:r>
            <a:endParaRPr lang="en-IN" sz="1400" b="1" dirty="0"/>
          </a:p>
          <a:p>
            <a:pPr algn="ctr"/>
            <a:r>
              <a:rPr lang="en-IN" sz="1400" b="1" dirty="0" smtClean="0"/>
              <a:t>Aditya Joshi (122B1B110)</a:t>
            </a:r>
            <a:endParaRPr lang="en-IN" sz="1400" b="1" dirty="0"/>
          </a:p>
          <a:p>
            <a:pPr algn="ctr"/>
            <a:r>
              <a:rPr lang="en-IN" sz="1400" b="1" dirty="0" err="1"/>
              <a:t>Aaditesh</a:t>
            </a:r>
            <a:r>
              <a:rPr lang="en-IN" sz="1400" b="1" dirty="0"/>
              <a:t> </a:t>
            </a:r>
            <a:r>
              <a:rPr lang="en-IN" sz="1400" b="1" dirty="0" err="1" smtClean="0"/>
              <a:t>Kadu</a:t>
            </a:r>
            <a:r>
              <a:rPr lang="en-IN" sz="1400" b="1" dirty="0" smtClean="0"/>
              <a:t> (122B1B122)</a:t>
            </a:r>
          </a:p>
          <a:p>
            <a:pPr algn="ctr"/>
            <a:r>
              <a:rPr lang="en-IN" sz="1400" b="1" dirty="0" smtClean="0"/>
              <a:t>Vedant Kale (122B1B124)</a:t>
            </a:r>
            <a:endParaRPr lang="en-IN" sz="1400" b="1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400" b="0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lang="en-IN" sz="1400" dirty="0" smtClean="0">
              <a:ea typeface="Times New Roman"/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en-IN" sz="1400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Prof.</a:t>
            </a:r>
            <a:r>
              <a:rPr lang="en-IN" sz="1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 dirty="0" err="1"/>
              <a:t>Sushma</a:t>
            </a:r>
            <a:r>
              <a:rPr lang="en-GB" sz="1400" dirty="0"/>
              <a:t> </a:t>
            </a:r>
            <a:r>
              <a:rPr lang="en-GB" sz="1400" dirty="0" err="1"/>
              <a:t>Vispute</a:t>
            </a:r>
            <a:endParaRPr lang="en-GB" sz="14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4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</a:t>
            </a:r>
            <a:endParaRPr lang="en-IN" sz="1400" b="1" dirty="0" smtClean="0">
              <a:solidFill>
                <a:schemeClr val="dk1"/>
              </a:solidFill>
              <a:ea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1600" b="1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1400"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PCET’s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Pimpri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Chinchwad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</a:t>
            </a:r>
          </a:p>
          <a:p>
            <a:pPr lvl="0" algn="ctr">
              <a:buClr>
                <a:srgbClr val="000000"/>
              </a:buClr>
              <a:buSzPts val="1400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(A. Y. 2025-26)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-451170" y="1341360"/>
            <a:ext cx="12825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2065770" y="1418760"/>
            <a:ext cx="12825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6616004" y="6375239"/>
            <a:ext cx="205713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</a:t>
            </a:fld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385" name="Object 1"/>
          <p:cNvGraphicFramePr>
            <a:graphicFrameLocks noChangeAspect="1"/>
          </p:cNvGraphicFramePr>
          <p:nvPr>
            <p:extLst/>
          </p:nvPr>
        </p:nvGraphicFramePr>
        <p:xfrm>
          <a:off x="3950283" y="4243874"/>
          <a:ext cx="12763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Bitmap Image" r:id="rId4" imgW="708866" imgH="606790" progId="PBrush">
                  <p:embed/>
                </p:oleObj>
              </mc:Choice>
              <mc:Fallback>
                <p:oleObj name="Bitmap Image" r:id="rId4" imgW="708866" imgH="606790" progId="PBrush">
                  <p:embed/>
                  <p:pic>
                    <p:nvPicPr>
                      <p:cNvPr id="1638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283" y="4243874"/>
                        <a:ext cx="1276350" cy="1038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635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Indian legal judgments are extremely long, complex, and time‑consuming.</a:t>
            </a:r>
          </a:p>
          <a:p>
            <a:r>
              <a:t>Manual analysis is inefficient and error‑prone.</a:t>
            </a:r>
          </a:p>
          <a:p>
            <a:r>
              <a:t>Goal: Build an intelligent assistant for fast summarization and Q&amp;A.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I Baseline (BiLSTM)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Encoder–Decoder </a:t>
            </a:r>
            <a:r>
              <a:rPr dirty="0" err="1"/>
              <a:t>BiLSTM</a:t>
            </a:r>
            <a:r>
              <a:rPr dirty="0"/>
              <a:t> with Attention implemented</a:t>
            </a:r>
          </a:p>
          <a:p>
            <a:pPr marL="0" indent="0">
              <a:buNone/>
            </a:pPr>
            <a:r>
              <a:rPr dirty="0"/>
              <a:t>• ROUGE‑L ≈ 0.71, F1 ≈ 72%</a:t>
            </a:r>
          </a:p>
          <a:p>
            <a:pPr marL="0" indent="0">
              <a:buNone/>
            </a:pPr>
            <a:r>
              <a:rPr dirty="0"/>
              <a:t>• Works for factual extraction</a:t>
            </a:r>
          </a:p>
          <a:p>
            <a:pPr marL="0" indent="0">
              <a:buNone/>
            </a:pPr>
            <a:r>
              <a:rPr dirty="0"/>
              <a:t>• Weak for deep reasoning &amp; long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Limited context window</a:t>
            </a:r>
          </a:p>
          <a:p>
            <a:pPr marL="0" indent="0">
              <a:buNone/>
            </a:pPr>
            <a:r>
              <a:rPr dirty="0"/>
              <a:t>• Poor multi‑hop reasoning</a:t>
            </a:r>
          </a:p>
          <a:p>
            <a:pPr marL="0" indent="0">
              <a:buNone/>
            </a:pPr>
            <a:r>
              <a:rPr dirty="0"/>
              <a:t>• Difficulty with complex legal arguments</a:t>
            </a:r>
          </a:p>
          <a:p>
            <a:pPr marL="0" indent="0">
              <a:buNone/>
            </a:pPr>
            <a:r>
              <a:rPr dirty="0"/>
              <a:t>• Sequential processing bottleneck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for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Transformers overcome RNN limitations using self‑attention.</a:t>
            </a:r>
          </a:p>
          <a:p>
            <a:r>
              <a:rPr dirty="0"/>
              <a:t>They model global dependencies and enable parallel computation.</a:t>
            </a:r>
          </a:p>
          <a:p>
            <a:r>
              <a:rPr dirty="0"/>
              <a:t>Current SOTA for NLP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Hugging Face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Largest open‑source hub for </a:t>
            </a:r>
            <a:r>
              <a:rPr dirty="0" err="1"/>
              <a:t>pretrained</a:t>
            </a:r>
            <a:r>
              <a:rPr dirty="0"/>
              <a:t> models</a:t>
            </a:r>
          </a:p>
          <a:p>
            <a:pPr marL="0" indent="0">
              <a:buNone/>
            </a:pPr>
            <a:r>
              <a:rPr dirty="0"/>
              <a:t>• Production‑ready implementations</a:t>
            </a:r>
          </a:p>
          <a:p>
            <a:pPr marL="0" indent="0">
              <a:buNone/>
            </a:pPr>
            <a:r>
              <a:rPr dirty="0"/>
              <a:t>• Easy fine‑tuning &amp; deployment</a:t>
            </a:r>
          </a:p>
          <a:p>
            <a:pPr marL="0" indent="0">
              <a:buNone/>
            </a:pPr>
            <a:r>
              <a:rPr dirty="0"/>
              <a:t>• Strong community </a:t>
            </a:r>
            <a:r>
              <a:rPr dirty="0" smtClean="0"/>
              <a:t>support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 (Phase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Replace </a:t>
            </a:r>
            <a:r>
              <a:rPr dirty="0" err="1"/>
              <a:t>BiLSTM</a:t>
            </a:r>
            <a:r>
              <a:rPr dirty="0"/>
              <a:t> with Transformer models</a:t>
            </a:r>
          </a:p>
          <a:p>
            <a:pPr marL="0" indent="0">
              <a:buNone/>
            </a:pPr>
            <a:r>
              <a:rPr dirty="0"/>
              <a:t>2. Improve summarization quality</a:t>
            </a:r>
          </a:p>
          <a:p>
            <a:pPr marL="0" indent="0">
              <a:buNone/>
            </a:pPr>
            <a:r>
              <a:rPr dirty="0"/>
              <a:t>3. Enhance QA accuracy</a:t>
            </a:r>
          </a:p>
          <a:p>
            <a:pPr marL="0" indent="0">
              <a:buNone/>
            </a:pPr>
            <a:r>
              <a:rPr dirty="0"/>
              <a:t>4. Maintain practical </a:t>
            </a:r>
            <a:r>
              <a:rPr dirty="0" err="1"/>
              <a:t>deployability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GB" sz="2800" b="1" dirty="0"/>
              <a:t>Core Engine (Transformers): </a:t>
            </a:r>
            <a:r>
              <a:rPr lang="en-GB" sz="2800" dirty="0"/>
              <a:t>Implementation of the Hugging Face ecosystem, moving away from sequential </a:t>
            </a:r>
            <a:r>
              <a:rPr lang="en-GB" sz="2800" dirty="0" err="1"/>
              <a:t>BiLSTM</a:t>
            </a:r>
            <a:r>
              <a:rPr lang="en-GB" sz="2800" dirty="0"/>
              <a:t> to parallel-processing Transformer models. </a:t>
            </a:r>
            <a:endParaRPr lang="en-GB" sz="2800" dirty="0" smtClean="0"/>
          </a:p>
          <a:p>
            <a:pPr marL="0" indent="0" algn="just">
              <a:buNone/>
            </a:pPr>
            <a:r>
              <a:rPr lang="en-GB" sz="2800" b="1" dirty="0" smtClean="0"/>
              <a:t>Summarization </a:t>
            </a:r>
            <a:r>
              <a:rPr lang="en-GB" sz="2800" b="1" dirty="0"/>
              <a:t>Layer: </a:t>
            </a:r>
            <a:r>
              <a:rPr lang="en-GB" sz="2800" dirty="0"/>
              <a:t>Utilizing BART-Large-CNN for abstractive summarization to capture the ratio </a:t>
            </a:r>
            <a:r>
              <a:rPr lang="en-GB" sz="2800" dirty="0" err="1"/>
              <a:t>decidendi</a:t>
            </a:r>
            <a:r>
              <a:rPr lang="en-GB" sz="2800" dirty="0"/>
              <a:t> (reason for the decision) of long legal judgments. </a:t>
            </a:r>
            <a:endParaRPr lang="en-GB" sz="2800" dirty="0" smtClean="0"/>
          </a:p>
          <a:p>
            <a:pPr marL="0" indent="0" algn="just">
              <a:buNone/>
            </a:pPr>
            <a:r>
              <a:rPr lang="en-GB" sz="2800" b="1" dirty="0" smtClean="0"/>
              <a:t>Question </a:t>
            </a:r>
            <a:r>
              <a:rPr lang="en-GB" sz="2800" b="1" dirty="0"/>
              <a:t>Answering Layer: </a:t>
            </a:r>
            <a:r>
              <a:rPr lang="en-GB" sz="2800" dirty="0"/>
              <a:t>Utilizing RoBERTa-Base-SQuAD2 for extractive QA, specifically chosen for its ability to handle unanswerable questions and reduce hallucinations in a legal context. </a:t>
            </a:r>
            <a:endParaRPr lang="en-GB" sz="2800" dirty="0" smtClean="0"/>
          </a:p>
          <a:p>
            <a:pPr marL="0" indent="0" algn="just">
              <a:buNone/>
            </a:pPr>
            <a:r>
              <a:rPr lang="en-GB" sz="2800" b="1" dirty="0" smtClean="0"/>
              <a:t>Long-Document </a:t>
            </a:r>
            <a:r>
              <a:rPr lang="en-GB" sz="2800" b="1" dirty="0"/>
              <a:t>Handling: </a:t>
            </a:r>
            <a:r>
              <a:rPr lang="en-GB" sz="2800" dirty="0"/>
              <a:t>Implementation of a sliding window chunking strategy with overlap to process documents that exceed the model's token limits while preserving </a:t>
            </a:r>
            <a:r>
              <a:rPr lang="en-GB" sz="2800" dirty="0" smtClean="0"/>
              <a:t>context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Benchmarking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dirty="0"/>
              <a:t>Multiple SOTA models evaluated on Indian legal judgments.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Metrics used:</a:t>
            </a:r>
          </a:p>
          <a:p>
            <a:pPr marL="0" indent="0">
              <a:buNone/>
            </a:pPr>
            <a:r>
              <a:rPr dirty="0"/>
              <a:t>• ROUGE‑L (Summarization)</a:t>
            </a:r>
          </a:p>
          <a:p>
            <a:pPr marL="0" indent="0">
              <a:buNone/>
            </a:pPr>
            <a:r>
              <a:rPr dirty="0"/>
              <a:t>• F1 Score (Question Answering)</a:t>
            </a:r>
          </a:p>
          <a:p>
            <a:pPr marL="0" indent="0">
              <a:buNone/>
            </a:pPr>
            <a:r>
              <a:rPr dirty="0"/>
              <a:t>• Practical suitability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GB" b="1" dirty="0" smtClean="0"/>
              <a:t>Summarization </a:t>
            </a:r>
            <a:r>
              <a:rPr lang="en-GB" b="1" dirty="0"/>
              <a:t>Metric: ROUGE-L</a:t>
            </a:r>
            <a:r>
              <a:rPr lang="en-GB" dirty="0"/>
              <a:t> The primary metric used to evaluate the BART-Large-CNN model is ROUGE-L. </a:t>
            </a:r>
            <a:endParaRPr lang="en-GB" dirty="0" smtClean="0"/>
          </a:p>
          <a:p>
            <a:pPr marL="457200" indent="-457200">
              <a:buAutoNum type="arabicPeriod"/>
            </a:pPr>
            <a:r>
              <a:rPr lang="en-GB" b="1" dirty="0" smtClean="0"/>
              <a:t>Definition</a:t>
            </a:r>
            <a:r>
              <a:rPr lang="en-GB" dirty="0"/>
              <a:t>: It measures the Longest Common Subsequence (LCS) between the machine-generated summary and a human-written reference. Significance: A score above 0.25 in the legal domain is considered highly effective due to the complexity of legal vocabulary. </a:t>
            </a:r>
            <a:endParaRPr lang="en-GB" dirty="0" smtClean="0"/>
          </a:p>
          <a:p>
            <a:pPr marL="457200" indent="-457200">
              <a:buAutoNum type="arabicPeriod"/>
            </a:pPr>
            <a:r>
              <a:rPr lang="en-GB" b="1" dirty="0" smtClean="0"/>
              <a:t>Our </a:t>
            </a:r>
            <a:r>
              <a:rPr lang="en-GB" b="1" dirty="0"/>
              <a:t>Result: </a:t>
            </a:r>
            <a:r>
              <a:rPr lang="en-GB" dirty="0"/>
              <a:t>Achieved a score of 0.2775, which is competitive with state-of-the-art benchmarks for Indian judgments.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9989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GB" b="1" dirty="0" smtClean="0"/>
              <a:t>Question </a:t>
            </a:r>
            <a:r>
              <a:rPr lang="en-GB" b="1" dirty="0"/>
              <a:t>Answering Metric: F1 Score</a:t>
            </a:r>
            <a:r>
              <a:rPr lang="en-GB" dirty="0"/>
              <a:t> For the RoBERTa-Base-SQuAD2 engine, we utilize the F1 Score to evaluate extractive accuracy. </a:t>
            </a:r>
            <a:endParaRPr lang="en-GB" dirty="0" smtClean="0"/>
          </a:p>
          <a:p>
            <a:pPr marL="457200" indent="-457200">
              <a:buAutoNum type="arabicPeriod"/>
            </a:pPr>
            <a:r>
              <a:rPr lang="en-GB" b="1" dirty="0" smtClean="0"/>
              <a:t>Definition</a:t>
            </a:r>
            <a:r>
              <a:rPr lang="en-GB" dirty="0"/>
              <a:t>: It provides a balance between Precision (exactness) and Recall (completeness). </a:t>
            </a:r>
            <a:r>
              <a:rPr lang="en-GB" dirty="0" err="1"/>
              <a:t>SQuAD</a:t>
            </a:r>
            <a:r>
              <a:rPr lang="en-GB" dirty="0"/>
              <a:t> 2.0 Advantage: This metric is particularly useful for our system because it accounts for unanswerable questions, reducing hallucinations. </a:t>
            </a:r>
            <a:endParaRPr lang="en-GB" dirty="0" smtClean="0"/>
          </a:p>
          <a:p>
            <a:pPr marL="457200" indent="-457200">
              <a:buAutoNum type="arabicPeriod"/>
            </a:pPr>
            <a:r>
              <a:rPr lang="en-GB" b="1" dirty="0" smtClean="0"/>
              <a:t>Our </a:t>
            </a:r>
            <a:r>
              <a:rPr lang="en-GB" b="1" dirty="0"/>
              <a:t>Result:</a:t>
            </a:r>
            <a:r>
              <a:rPr lang="en-GB" dirty="0"/>
              <a:t> Achieved an F1 score of 0.4044, which was the highest among all benchmarked models for the Indian legal dataset</a:t>
            </a:r>
            <a:r>
              <a:rPr lang="en-GB" dirty="0" smtClean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545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000" dirty="0" smtClean="0"/>
              <a:t>Practical </a:t>
            </a:r>
            <a:r>
              <a:rPr lang="en-GB" sz="3000" dirty="0"/>
              <a:t>Evaluation Criteria Beyond mathematical scores, the system is evaluated on: </a:t>
            </a:r>
            <a:endParaRPr lang="en-GB" sz="3000" dirty="0" smtClean="0"/>
          </a:p>
          <a:p>
            <a:pPr marL="0" indent="0">
              <a:buNone/>
            </a:pPr>
            <a:r>
              <a:rPr lang="en-GB" b="1" dirty="0" smtClean="0"/>
              <a:t>Narrative </a:t>
            </a:r>
            <a:r>
              <a:rPr lang="en-GB" b="1" dirty="0"/>
              <a:t>Coherence</a:t>
            </a:r>
            <a:r>
              <a:rPr lang="en-GB" dirty="0"/>
              <a:t>: The ability of the summarizer to preserve the logical flow and the Ratio </a:t>
            </a:r>
            <a:r>
              <a:rPr lang="en-GB" dirty="0" err="1"/>
              <a:t>Decidendi</a:t>
            </a:r>
            <a:r>
              <a:rPr lang="en-GB" dirty="0"/>
              <a:t> (reason for the decision). </a:t>
            </a:r>
            <a:endParaRPr lang="en-GB" dirty="0" smtClean="0"/>
          </a:p>
          <a:p>
            <a:pPr marL="0" indent="0">
              <a:buNone/>
            </a:pPr>
            <a:r>
              <a:rPr lang="en-GB" b="1" dirty="0" smtClean="0"/>
              <a:t>Hallucination </a:t>
            </a:r>
            <a:r>
              <a:rPr lang="en-GB" b="1" dirty="0"/>
              <a:t>Resistance: </a:t>
            </a:r>
            <a:r>
              <a:rPr lang="en-GB" dirty="0"/>
              <a:t>The model's ability to refuse invalid queries by outputting "Unknown" if a fact is missing from the document. </a:t>
            </a:r>
            <a:endParaRPr lang="en-GB" dirty="0" smtClean="0"/>
          </a:p>
          <a:p>
            <a:pPr marL="0" indent="0">
              <a:buNone/>
            </a:pPr>
            <a:r>
              <a:rPr lang="en-GB" b="1" dirty="0" smtClean="0"/>
              <a:t>Inference </a:t>
            </a:r>
            <a:r>
              <a:rPr lang="en-GB" b="1" dirty="0"/>
              <a:t>Speed: </a:t>
            </a:r>
            <a:r>
              <a:rPr lang="en-GB" dirty="0"/>
              <a:t>The goal is to provide near real-time results for better user experience.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244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Summarization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BART‑Large‑CNN</a:t>
            </a:r>
          </a:p>
          <a:p>
            <a:pPr marL="0" indent="0">
              <a:buNone/>
            </a:pPr>
            <a:r>
              <a:rPr dirty="0"/>
              <a:t>• ROUGE‑L = 0.2775 (Best among tested models)</a:t>
            </a:r>
          </a:p>
          <a:p>
            <a:pPr marL="0" indent="0">
              <a:buNone/>
            </a:pPr>
            <a:r>
              <a:rPr dirty="0"/>
              <a:t>• Seq2Seq Transformer</a:t>
            </a:r>
          </a:p>
          <a:p>
            <a:pPr marL="0" indent="0">
              <a:buNone/>
            </a:pPr>
            <a:r>
              <a:rPr dirty="0"/>
              <a:t>• Strong narrative coherence</a:t>
            </a:r>
          </a:p>
          <a:p>
            <a:pPr marL="0" indent="0">
              <a:buNone/>
            </a:pPr>
            <a:r>
              <a:rPr dirty="0"/>
              <a:t>Model Link:</a:t>
            </a:r>
          </a:p>
          <a:p>
            <a:pPr marL="0" indent="0">
              <a:buNone/>
            </a:pPr>
            <a:r>
              <a:rPr dirty="0"/>
              <a:t>https://huggingface.co/facebook/bart-large-cnn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BART is Suitable for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Captures long‑range dependencies</a:t>
            </a:r>
          </a:p>
          <a:p>
            <a:pPr marL="0" indent="0">
              <a:buNone/>
            </a:pPr>
            <a:r>
              <a:rPr dirty="0"/>
              <a:t>• Handles unstructured documents</a:t>
            </a:r>
          </a:p>
          <a:p>
            <a:pPr marL="0" indent="0">
              <a:buNone/>
            </a:pPr>
            <a:r>
              <a:rPr dirty="0"/>
              <a:t>• Preserves logical flow of judgments</a:t>
            </a:r>
          </a:p>
          <a:p>
            <a:pPr marL="0" indent="0">
              <a:buNone/>
            </a:pPr>
            <a:r>
              <a:rPr dirty="0"/>
              <a:t>• Extracts ratio </a:t>
            </a:r>
            <a:r>
              <a:rPr dirty="0" err="1"/>
              <a:t>decidendi</a:t>
            </a:r>
            <a:r>
              <a:rPr dirty="0"/>
              <a:t> effectively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QA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RoBERTa‑Base‑SQuAD2</a:t>
            </a:r>
          </a:p>
          <a:p>
            <a:pPr marL="0" indent="0">
              <a:buNone/>
            </a:pPr>
            <a:r>
              <a:rPr dirty="0"/>
              <a:t>• F1 = 0.4044 (Highest)</a:t>
            </a:r>
          </a:p>
          <a:p>
            <a:pPr marL="0" indent="0">
              <a:buNone/>
            </a:pPr>
            <a:r>
              <a:rPr dirty="0"/>
              <a:t>• Fine‑tuned for extractive QA</a:t>
            </a:r>
          </a:p>
          <a:p>
            <a:pPr marL="0" indent="0">
              <a:buNone/>
            </a:pPr>
            <a:r>
              <a:rPr dirty="0"/>
              <a:t>Model Link:</a:t>
            </a:r>
          </a:p>
          <a:p>
            <a:pPr marL="0" indent="0">
              <a:buNone/>
            </a:pPr>
            <a:r>
              <a:rPr dirty="0"/>
              <a:t>https://huggingface.co/deepset/roberta-base-squad2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RoBERTa Outperformed 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Robust language understanding</a:t>
            </a:r>
          </a:p>
          <a:p>
            <a:pPr marL="0" indent="0">
              <a:buNone/>
            </a:pPr>
            <a:r>
              <a:rPr dirty="0"/>
              <a:t>• Handles unanswerable questions</a:t>
            </a:r>
          </a:p>
          <a:p>
            <a:pPr marL="0" indent="0">
              <a:buNone/>
            </a:pPr>
            <a:r>
              <a:rPr dirty="0"/>
              <a:t>• Reduces hallucinations</a:t>
            </a:r>
          </a:p>
          <a:p>
            <a:pPr marL="0" indent="0">
              <a:buNone/>
            </a:pPr>
            <a:r>
              <a:rPr dirty="0"/>
              <a:t>• Better syntax modeling than BERT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Document Parsing → Text Chunking →</a:t>
            </a:r>
          </a:p>
          <a:p>
            <a:r>
              <a:t>BART Summarizer → RoBERTa QA → Final 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 + Hugging Face Transformers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PyTorch</a:t>
            </a:r>
            <a:r>
              <a:rPr dirty="0"/>
              <a:t> backend</a:t>
            </a:r>
          </a:p>
          <a:p>
            <a:pPr marL="0" indent="0">
              <a:buNone/>
            </a:pPr>
            <a:r>
              <a:rPr dirty="0"/>
              <a:t>• Flask REST API</a:t>
            </a:r>
          </a:p>
          <a:p>
            <a:pPr marL="0" indent="0">
              <a:buNone/>
            </a:pPr>
            <a:r>
              <a:rPr dirty="0"/>
              <a:t>• MongoDB Atlas database</a:t>
            </a:r>
          </a:p>
          <a:p>
            <a:pPr marL="0" indent="0">
              <a:buNone/>
            </a:pPr>
            <a:r>
              <a:rPr dirty="0"/>
              <a:t>• Google </a:t>
            </a:r>
            <a:r>
              <a:rPr dirty="0" err="1"/>
              <a:t>Colab</a:t>
            </a:r>
            <a:r>
              <a:rPr dirty="0"/>
              <a:t> T4 GPU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 Document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Legal judgments exceed model context limits.</a:t>
            </a:r>
          </a:p>
          <a:p>
            <a:pPr marL="0" indent="0">
              <a:buNone/>
            </a:pPr>
            <a:r>
              <a:rPr dirty="0"/>
              <a:t>Solution:</a:t>
            </a:r>
          </a:p>
          <a:p>
            <a:pPr marL="0" indent="0">
              <a:buNone/>
            </a:pPr>
            <a:r>
              <a:rPr dirty="0"/>
              <a:t>• Sliding window chunking</a:t>
            </a:r>
          </a:p>
          <a:p>
            <a:pPr marL="0" indent="0">
              <a:buNone/>
            </a:pPr>
            <a:r>
              <a:rPr dirty="0"/>
              <a:t>• Overlap to preserve context</a:t>
            </a:r>
          </a:p>
          <a:p>
            <a:pPr marL="0" indent="0">
              <a:buNone/>
            </a:pPr>
            <a:r>
              <a:rPr dirty="0"/>
              <a:t>• Summary aggregation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BiLSTM vs Transformer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 err="1"/>
              <a:t>BiLSTM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Sequential processing</a:t>
            </a:r>
          </a:p>
          <a:p>
            <a:pPr marL="0" indent="0">
              <a:buNone/>
            </a:pPr>
            <a:r>
              <a:rPr dirty="0"/>
              <a:t>• Limited context</a:t>
            </a:r>
          </a:p>
          <a:p>
            <a:pPr marL="0" indent="0">
              <a:buNone/>
            </a:pPr>
            <a:r>
              <a:rPr dirty="0"/>
              <a:t>• Moderate accuracy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Transformer:</a:t>
            </a:r>
          </a:p>
          <a:p>
            <a:pPr marL="0" indent="0">
              <a:buNone/>
            </a:pPr>
            <a:r>
              <a:rPr dirty="0"/>
              <a:t>• Parallel processing</a:t>
            </a:r>
          </a:p>
          <a:p>
            <a:pPr marL="0" indent="0">
              <a:buNone/>
            </a:pPr>
            <a:r>
              <a:rPr dirty="0"/>
              <a:t>• Global attention</a:t>
            </a:r>
          </a:p>
          <a:p>
            <a:pPr marL="0" indent="0">
              <a:buNone/>
            </a:pPr>
            <a:r>
              <a:rPr dirty="0"/>
              <a:t>• Higher accuracy &amp; reasoning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 working prototype developed with web interface.</a:t>
            </a:r>
          </a:p>
          <a:p>
            <a:pPr marL="0" indent="0">
              <a:buNone/>
            </a:pPr>
            <a:r>
              <a:rPr dirty="0"/>
              <a:t>Features:</a:t>
            </a:r>
          </a:p>
          <a:p>
            <a:pPr marL="0" indent="0">
              <a:buNone/>
            </a:pPr>
            <a:r>
              <a:rPr dirty="0"/>
              <a:t>• Upload legal document</a:t>
            </a:r>
          </a:p>
          <a:p>
            <a:pPr marL="0" indent="0">
              <a:buNone/>
            </a:pPr>
            <a:r>
              <a:rPr dirty="0"/>
              <a:t>• Automatic summarization</a:t>
            </a:r>
          </a:p>
          <a:p>
            <a:pPr marL="0" indent="0">
              <a:buNone/>
            </a:pPr>
            <a:r>
              <a:rPr dirty="0"/>
              <a:t>• Interactive Q&amp;A</a:t>
            </a:r>
          </a:p>
          <a:p>
            <a:pPr marL="0" indent="0">
              <a:buNone/>
            </a:pPr>
            <a:r>
              <a:rPr dirty="0"/>
              <a:t>• Near real‑time 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Improvements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Better semantic summaries</a:t>
            </a:r>
          </a:p>
          <a:p>
            <a:pPr marL="0" indent="0">
              <a:buNone/>
            </a:pPr>
            <a:r>
              <a:rPr dirty="0"/>
              <a:t>• Improved handling of complex queries</a:t>
            </a:r>
          </a:p>
          <a:p>
            <a:pPr marL="0" indent="0">
              <a:buNone/>
            </a:pPr>
            <a:r>
              <a:rPr dirty="0"/>
              <a:t>• Reduced information loss</a:t>
            </a:r>
          </a:p>
          <a:p>
            <a:pPr marL="0" indent="0">
              <a:buNone/>
            </a:pPr>
            <a:r>
              <a:rPr dirty="0"/>
              <a:t>• Scalable architecture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GPU memory requirement</a:t>
            </a:r>
          </a:p>
          <a:p>
            <a:pPr marL="0" indent="0">
              <a:buNone/>
            </a:pPr>
            <a:r>
              <a:rPr dirty="0"/>
              <a:t>• Context window limits still exist</a:t>
            </a:r>
          </a:p>
          <a:p>
            <a:pPr marL="0" indent="0">
              <a:buNone/>
            </a:pPr>
            <a:r>
              <a:rPr dirty="0"/>
              <a:t>• Domain adaptation needed for Indian law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(Review III)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Retrieval‑Augmented Generation (RAG)</a:t>
            </a:r>
          </a:p>
          <a:p>
            <a:pPr marL="0" indent="0">
              <a:buNone/>
            </a:pPr>
            <a:r>
              <a:rPr dirty="0"/>
              <a:t>• Legal knowledge graph integration</a:t>
            </a:r>
          </a:p>
          <a:p>
            <a:pPr marL="0" indent="0">
              <a:buNone/>
            </a:pPr>
            <a:r>
              <a:rPr dirty="0"/>
              <a:t>• Multilingual support (Indian languages)</a:t>
            </a:r>
          </a:p>
          <a:p>
            <a:pPr marL="0" indent="0">
              <a:buNone/>
            </a:pPr>
            <a:r>
              <a:rPr dirty="0"/>
              <a:t>• Cloud deployment &amp; scaling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 models significantly outperform BiLSTM baseline.</a:t>
            </a:r>
          </a:p>
          <a:p>
            <a:r>
              <a:t>Hugging Face enables practical deployment of Legal AI systems.</a:t>
            </a:r>
          </a:p>
          <a:p>
            <a:r>
              <a:t>This phase establishes a strong foundation for an intelligent legal assistant.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</TotalTime>
  <Words>936</Words>
  <Application>Microsoft Office PowerPoint</Application>
  <PresentationFormat>On-screen Show (4:3)</PresentationFormat>
  <Paragraphs>147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Garamond</vt:lpstr>
      <vt:lpstr>Times New Roman</vt:lpstr>
      <vt:lpstr>Organic</vt:lpstr>
      <vt:lpstr>Bitmap Image</vt:lpstr>
      <vt:lpstr>PowerPoint Presentation</vt:lpstr>
      <vt:lpstr>Problem Revisited</vt:lpstr>
      <vt:lpstr>Review I Baseline (BiLSTM)</vt:lpstr>
      <vt:lpstr>Limitations Identified</vt:lpstr>
      <vt:lpstr>Motivation for Transformers</vt:lpstr>
      <vt:lpstr>Why Hugging Face Ecosystem</vt:lpstr>
      <vt:lpstr>Project Objectives (Phase II)</vt:lpstr>
      <vt:lpstr>Proposed Methodology</vt:lpstr>
      <vt:lpstr>Model Benchmarking Approach</vt:lpstr>
      <vt:lpstr>Performance Metrics</vt:lpstr>
      <vt:lpstr>Performance Metrics</vt:lpstr>
      <vt:lpstr>Performance Metrics</vt:lpstr>
      <vt:lpstr>Selected Summarization Model</vt:lpstr>
      <vt:lpstr>Why BART is Suitable for Law</vt:lpstr>
      <vt:lpstr>Selected QA Model</vt:lpstr>
      <vt:lpstr>Why RoBERTa Outperformed Others</vt:lpstr>
      <vt:lpstr>Overall System Architecture</vt:lpstr>
      <vt:lpstr>Backend &amp; Infrastructure</vt:lpstr>
      <vt:lpstr>Long Document Handling</vt:lpstr>
      <vt:lpstr>BiLSTM vs Transformer Comparison</vt:lpstr>
      <vt:lpstr>Prototype Implementation</vt:lpstr>
      <vt:lpstr>Key Improvements Achieved</vt:lpstr>
      <vt:lpstr>Challenges &amp; Constraints</vt:lpstr>
      <vt:lpstr>Future Work (Review III)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 – II</dc:title>
  <dc:subject/>
  <dc:creator/>
  <cp:keywords/>
  <dc:description>generated using python-pptx</dc:description>
  <cp:lastModifiedBy>Vedant</cp:lastModifiedBy>
  <cp:revision>4</cp:revision>
  <dcterms:created xsi:type="dcterms:W3CDTF">2013-01-27T09:14:16Z</dcterms:created>
  <dcterms:modified xsi:type="dcterms:W3CDTF">2026-02-27T11:37:05Z</dcterms:modified>
  <cp:category/>
</cp:coreProperties>
</file>