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4"/>
  </p:notesMasterIdLst>
  <p:sldIdLst>
    <p:sldId id="280" r:id="rId2"/>
    <p:sldId id="257" r:id="rId3"/>
    <p:sldId id="273" r:id="rId4"/>
    <p:sldId id="275" r:id="rId5"/>
    <p:sldId id="260" r:id="rId6"/>
    <p:sldId id="274" r:id="rId7"/>
    <p:sldId id="258" r:id="rId8"/>
    <p:sldId id="276" r:id="rId9"/>
    <p:sldId id="277" r:id="rId10"/>
    <p:sldId id="259" r:id="rId11"/>
    <p:sldId id="261" r:id="rId12"/>
    <p:sldId id="262" r:id="rId13"/>
    <p:sldId id="27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9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76926-F3C4-44FE-A7E3-2A27B1BEC30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506B7-381B-40B9-ABCC-DD3A6A6B3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785" y="4343391"/>
            <a:ext cx="5486386" cy="411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52" tIns="80152" rIns="80152" bIns="80152" anchor="t" anchorCtr="0">
            <a:noAutofit/>
          </a:bodyPr>
          <a:lstStyle/>
          <a:p>
            <a:pPr>
              <a:buSzPts val="1100"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818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8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18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6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44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65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2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4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7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773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42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00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701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561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448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4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6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/>
          <p:nvPr/>
        </p:nvSpPr>
        <p:spPr>
          <a:xfrm>
            <a:off x="559836" y="564934"/>
            <a:ext cx="8005665" cy="5707801"/>
          </a:xfrm>
          <a:prstGeom prst="rect">
            <a:avLst/>
          </a:prstGeom>
          <a:noFill/>
          <a:ln w="572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b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Project Review-I Presentation 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on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1600" b="1" dirty="0" err="1"/>
              <a:t>BiLSTM</a:t>
            </a:r>
            <a:r>
              <a:rPr lang="en-GB" sz="1600" b="1" dirty="0"/>
              <a:t>-based Indian Legal Case Summarization and Q&amp;A System</a:t>
            </a:r>
            <a:endParaRPr lang="en-US" sz="14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Final Year Computer Engineering Course- Major Project 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IN" sz="1400" b="1" dirty="0" err="1"/>
              <a:t>Prathmesh</a:t>
            </a:r>
            <a:r>
              <a:rPr lang="en-IN" sz="1400" b="1" dirty="0"/>
              <a:t> </a:t>
            </a:r>
            <a:r>
              <a:rPr lang="en-IN" sz="1400" b="1" dirty="0" err="1"/>
              <a:t>Dudhale</a:t>
            </a:r>
            <a:r>
              <a:rPr lang="en-IN" sz="1400" b="1" dirty="0"/>
              <a:t> </a:t>
            </a:r>
            <a:r>
              <a:rPr lang="en-IN" sz="1400" b="1" dirty="0" smtClean="0"/>
              <a:t>(122B1B078)</a:t>
            </a:r>
            <a:endParaRPr lang="en-IN" sz="1400" b="1" dirty="0"/>
          </a:p>
          <a:p>
            <a:pPr algn="ctr"/>
            <a:r>
              <a:rPr lang="en-IN" sz="1400" b="1" dirty="0" smtClean="0"/>
              <a:t>Aditya Joshi (122B1B110)</a:t>
            </a:r>
            <a:endParaRPr lang="en-IN" sz="1400" b="1" dirty="0"/>
          </a:p>
          <a:p>
            <a:pPr algn="ctr"/>
            <a:r>
              <a:rPr lang="en-IN" sz="1400" b="1" dirty="0" err="1"/>
              <a:t>Aaditesh</a:t>
            </a:r>
            <a:r>
              <a:rPr lang="en-IN" sz="1400" b="1" dirty="0"/>
              <a:t> </a:t>
            </a:r>
            <a:r>
              <a:rPr lang="en-IN" sz="1400" b="1" dirty="0" err="1" smtClean="0"/>
              <a:t>Kadu</a:t>
            </a:r>
            <a:r>
              <a:rPr lang="en-IN" sz="1400" b="1" dirty="0" smtClean="0"/>
              <a:t> (122B1B122)</a:t>
            </a:r>
          </a:p>
          <a:p>
            <a:pPr algn="ctr"/>
            <a:r>
              <a:rPr lang="en-IN" sz="1400" b="1" dirty="0" smtClean="0"/>
              <a:t>Vedant Kale (122B1B124)</a:t>
            </a:r>
            <a:endParaRPr lang="en-IN" sz="14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400" b="0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lang="en-IN" sz="1400" dirty="0" smtClean="0">
              <a:ea typeface="Times New Roman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IN" sz="14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lang="en-IN" sz="1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dirty="0" err="1"/>
              <a:t>Sushma</a:t>
            </a:r>
            <a:r>
              <a:rPr lang="en-GB" sz="1400" dirty="0"/>
              <a:t> </a:t>
            </a:r>
            <a:r>
              <a:rPr lang="en-GB" sz="1400" dirty="0" err="1"/>
              <a:t>Vispute</a:t>
            </a:r>
            <a:endParaRPr lang="en-GB" sz="1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4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</a:t>
            </a:r>
            <a:endParaRPr lang="en-IN" sz="1400" b="1" dirty="0" smtClean="0">
              <a:solidFill>
                <a:schemeClr val="dk1"/>
              </a:solidFill>
              <a:ea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16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PCET’s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Pimpri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Chinchwad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(A. Y. 2025-26)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-451170" y="13413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2065770" y="14187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6616004" y="6375239"/>
            <a:ext cx="205713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38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242464"/>
              </p:ext>
            </p:extLst>
          </p:nvPr>
        </p:nvGraphicFramePr>
        <p:xfrm>
          <a:off x="3950283" y="4243874"/>
          <a:ext cx="1276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Bitmap Image" r:id="rId4" imgW="708866" imgH="606790" progId="PBrush">
                  <p:embed/>
                </p:oleObj>
              </mc:Choice>
              <mc:Fallback>
                <p:oleObj name="Bitmap Image" r:id="rId4" imgW="708866" imgH="606790" progId="PBrush">
                  <p:embed/>
                  <p:pic>
                    <p:nvPicPr>
                      <p:cNvPr id="163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283" y="4243874"/>
                        <a:ext cx="1276350" cy="1038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75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90262" y="3461027"/>
            <a:ext cx="520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11552" y="626088"/>
            <a:ext cx="6798734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800" dirty="0" smtClean="0"/>
              <a:t>Index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390262" y="1522034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Problem Statement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Literature Survey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Objectives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Project Timeline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System Architecture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Tools &amp; Technologies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Module Implementation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Testing &amp; Validation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Paper Publication Details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Conclusion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Problem Statement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788" y="2490135"/>
            <a:ext cx="7604449" cy="3444997"/>
          </a:xfrm>
        </p:spPr>
        <p:txBody>
          <a:bodyPr>
            <a:noAutofit/>
          </a:bodyPr>
          <a:lstStyle/>
          <a:p>
            <a:pPr algn="just"/>
            <a:r>
              <a:rPr lang="en-GB" sz="2800" dirty="0"/>
              <a:t>Indian legal documents are extremely lengthy, complex, and time-consuming to read manually. Lawyers, researchers, and students struggle to extract key information quickly. There is a need for an automated system that can summarize legal judgments and answer questions </a:t>
            </a:r>
            <a:r>
              <a:rPr lang="en-GB" sz="2800" dirty="0" smtClean="0"/>
              <a:t>accurately.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95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Motivation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747" y="2396829"/>
            <a:ext cx="7604449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b="1" dirty="0"/>
              <a:t>Why This Project Matters</a:t>
            </a:r>
          </a:p>
          <a:p>
            <a:r>
              <a:rPr lang="en-GB" dirty="0" smtClean="0"/>
              <a:t>⚖ </a:t>
            </a:r>
            <a:r>
              <a:rPr lang="en-GB" dirty="0"/>
              <a:t>Indian courts generate </a:t>
            </a:r>
            <a:r>
              <a:rPr lang="en-GB" b="1" dirty="0"/>
              <a:t>millions of pages annually</a:t>
            </a:r>
            <a:endParaRPr lang="en-GB" dirty="0"/>
          </a:p>
          <a:p>
            <a:r>
              <a:rPr lang="en-GB" dirty="0"/>
              <a:t>👨</a:t>
            </a:r>
            <a:r>
              <a:rPr lang="en-GB" dirty="0" smtClean="0"/>
              <a:t>‍ Lawyers </a:t>
            </a:r>
            <a:r>
              <a:rPr lang="en-GB" dirty="0"/>
              <a:t>spend </a:t>
            </a:r>
            <a:r>
              <a:rPr lang="en-GB" b="1" dirty="0"/>
              <a:t>30–40% time</a:t>
            </a:r>
            <a:r>
              <a:rPr lang="en-GB" dirty="0"/>
              <a:t> on document reading &amp; research</a:t>
            </a:r>
          </a:p>
          <a:p>
            <a:r>
              <a:rPr lang="en-GB" dirty="0"/>
              <a:t>📚 Law students struggle with </a:t>
            </a:r>
            <a:r>
              <a:rPr lang="en-GB" b="1" dirty="0"/>
              <a:t>quick understanding of judgments</a:t>
            </a:r>
            <a:endParaRPr lang="en-GB" dirty="0"/>
          </a:p>
          <a:p>
            <a:r>
              <a:rPr lang="en-GB" dirty="0"/>
              <a:t>🚀 </a:t>
            </a:r>
            <a:r>
              <a:rPr lang="en-GB" dirty="0" err="1"/>
              <a:t>LegalTech</a:t>
            </a:r>
            <a:r>
              <a:rPr lang="en-GB" dirty="0"/>
              <a:t> adoption in India is </a:t>
            </a:r>
            <a:r>
              <a:rPr lang="en-GB" b="1" dirty="0"/>
              <a:t>still in early stages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246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335" y="2435017"/>
            <a:ext cx="7557796" cy="3444997"/>
          </a:xfrm>
        </p:spPr>
        <p:txBody>
          <a:bodyPr>
            <a:noAutofit/>
          </a:bodyPr>
          <a:lstStyle/>
          <a:p>
            <a:r>
              <a:rPr lang="en-GB" b="1" dirty="0" smtClean="0"/>
              <a:t>To </a:t>
            </a:r>
            <a:r>
              <a:rPr lang="en-GB" b="1" dirty="0" err="1"/>
              <a:t>analyze</a:t>
            </a:r>
            <a:r>
              <a:rPr lang="en-GB" dirty="0"/>
              <a:t> the challenges in processing Indian legal documents using NLP.</a:t>
            </a:r>
          </a:p>
          <a:p>
            <a:r>
              <a:rPr lang="en-GB" b="1" dirty="0"/>
              <a:t>To collect</a:t>
            </a:r>
            <a:r>
              <a:rPr lang="en-GB" dirty="0"/>
              <a:t> and </a:t>
            </a:r>
            <a:r>
              <a:rPr lang="en-GB" dirty="0" err="1"/>
              <a:t>preprocess</a:t>
            </a:r>
            <a:r>
              <a:rPr lang="en-GB" dirty="0"/>
              <a:t> Indian legal judgments and case briefs.</a:t>
            </a:r>
          </a:p>
          <a:p>
            <a:r>
              <a:rPr lang="en-GB" b="1" dirty="0"/>
              <a:t>To design</a:t>
            </a:r>
            <a:r>
              <a:rPr lang="en-GB" dirty="0"/>
              <a:t> a </a:t>
            </a:r>
            <a:r>
              <a:rPr lang="en-GB" dirty="0" err="1"/>
              <a:t>BiLSTM</a:t>
            </a:r>
            <a:r>
              <a:rPr lang="en-GB" dirty="0"/>
              <a:t> Encoder–Decoder architecture with attention.</a:t>
            </a:r>
          </a:p>
          <a:p>
            <a:r>
              <a:rPr lang="en-GB" b="1" dirty="0"/>
              <a:t>To identify</a:t>
            </a:r>
            <a:r>
              <a:rPr lang="en-GB" dirty="0"/>
              <a:t> performance limitations and propose Transformer-based extensions.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Scope and Feasibility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699" y="1855654"/>
            <a:ext cx="8108301" cy="3444997"/>
          </a:xfrm>
        </p:spPr>
        <p:txBody>
          <a:bodyPr>
            <a:noAutofit/>
          </a:bodyPr>
          <a:lstStyle/>
          <a:p>
            <a:endParaRPr lang="en-GB" sz="2800" b="1" dirty="0"/>
          </a:p>
          <a:p>
            <a:r>
              <a:rPr lang="en-GB" sz="2800" dirty="0"/>
              <a:t>Summarization of:</a:t>
            </a:r>
          </a:p>
          <a:p>
            <a:pPr lvl="1"/>
            <a:r>
              <a:rPr lang="en-GB" sz="2400" dirty="0"/>
              <a:t>Supreme Court Judgments</a:t>
            </a:r>
          </a:p>
          <a:p>
            <a:pPr lvl="1"/>
            <a:r>
              <a:rPr lang="en-GB" sz="2400" dirty="0"/>
              <a:t>High Court Judgments</a:t>
            </a:r>
          </a:p>
          <a:p>
            <a:pPr lvl="1"/>
            <a:r>
              <a:rPr lang="en-GB" sz="2400" dirty="0"/>
              <a:t>Statutory Documents</a:t>
            </a:r>
          </a:p>
          <a:p>
            <a:r>
              <a:rPr lang="en-GB" sz="2800" dirty="0"/>
              <a:t>Fact-based legal Q&amp;A</a:t>
            </a:r>
          </a:p>
          <a:p>
            <a:r>
              <a:rPr lang="en-GB" sz="2800" dirty="0"/>
              <a:t>English-language legal documents only</a:t>
            </a:r>
          </a:p>
        </p:txBody>
      </p:sp>
    </p:spTree>
    <p:extLst>
      <p:ext uri="{BB962C8B-B14F-4D97-AF65-F5344CB8AC3E}">
        <p14:creationId xmlns:p14="http://schemas.microsoft.com/office/powerpoint/2010/main" val="379727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443139"/>
            <a:ext cx="7688425" cy="3444997"/>
          </a:xfrm>
        </p:spPr>
        <p:txBody>
          <a:bodyPr>
            <a:noAutofit/>
          </a:bodyPr>
          <a:lstStyle/>
          <a:p>
            <a:r>
              <a:rPr lang="en-IN" sz="2800" dirty="0" smtClean="0"/>
              <a:t>Legal </a:t>
            </a:r>
            <a:r>
              <a:rPr lang="en-IN" sz="2800" dirty="0"/>
              <a:t>Q&amp;A systems in Indian context</a:t>
            </a:r>
          </a:p>
          <a:p>
            <a:r>
              <a:rPr lang="en-IN" sz="2800" dirty="0"/>
              <a:t>Legal document summarization techniques</a:t>
            </a:r>
          </a:p>
          <a:p>
            <a:r>
              <a:rPr lang="en-IN" sz="2800" dirty="0" err="1"/>
              <a:t>BiLSTM</a:t>
            </a:r>
            <a:r>
              <a:rPr lang="en-IN" sz="2800" dirty="0"/>
              <a:t> vs Transformer-based architectures</a:t>
            </a:r>
          </a:p>
          <a:p>
            <a:r>
              <a:rPr lang="en-IN" sz="2800" dirty="0"/>
              <a:t>RAG and multilingual legal datasets</a:t>
            </a:r>
          </a:p>
          <a:p>
            <a:r>
              <a:rPr lang="en-IN" sz="2800" dirty="0"/>
              <a:t>📚 </a:t>
            </a:r>
            <a:r>
              <a:rPr lang="en-IN" sz="2800" b="1" dirty="0"/>
              <a:t>Total Papers Reviewed:</a:t>
            </a:r>
            <a:r>
              <a:rPr lang="en-IN" sz="2800" dirty="0"/>
              <a:t> 15</a:t>
            </a:r>
            <a:r>
              <a:rPr lang="en-IN" sz="2800" dirty="0" smtClean="0"/>
              <a:t>+</a:t>
            </a:r>
          </a:p>
          <a:p>
            <a:r>
              <a:rPr lang="en-IN" sz="2800" dirty="0" smtClean="0"/>
              <a:t>📆 </a:t>
            </a:r>
            <a:r>
              <a:rPr lang="en-IN" sz="2800" b="1" dirty="0"/>
              <a:t>Year Range:</a:t>
            </a:r>
            <a:r>
              <a:rPr lang="en-IN" sz="2800" dirty="0"/>
              <a:t> 2021 –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0420" y="497584"/>
            <a:ext cx="6799262" cy="1303337"/>
          </a:xfrm>
        </p:spPr>
        <p:txBody>
          <a:bodyPr/>
          <a:lstStyle/>
          <a:p>
            <a:r>
              <a:rPr dirty="0"/>
              <a:t>Literature Survey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40912564"/>
              </p:ext>
            </p:extLst>
          </p:nvPr>
        </p:nvGraphicFramePr>
        <p:xfrm>
          <a:off x="701173" y="1520517"/>
          <a:ext cx="7743030" cy="45443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59472">
                  <a:extLst>
                    <a:ext uri="{9D8B030D-6E8A-4147-A177-3AD203B41FA5}">
                      <a16:colId xmlns:a16="http://schemas.microsoft.com/office/drawing/2014/main" val="529273617"/>
                    </a:ext>
                  </a:extLst>
                </a:gridCol>
                <a:gridCol w="3228392">
                  <a:extLst>
                    <a:ext uri="{9D8B030D-6E8A-4147-A177-3AD203B41FA5}">
                      <a16:colId xmlns:a16="http://schemas.microsoft.com/office/drawing/2014/main" val="13250625"/>
                    </a:ext>
                  </a:extLst>
                </a:gridCol>
                <a:gridCol w="2855166">
                  <a:extLst>
                    <a:ext uri="{9D8B030D-6E8A-4147-A177-3AD203B41FA5}">
                      <a16:colId xmlns:a16="http://schemas.microsoft.com/office/drawing/2014/main" val="383078753"/>
                    </a:ext>
                  </a:extLst>
                </a:gridCol>
              </a:tblGrid>
              <a:tr h="349567"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Reference 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Key Findings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Learning for Our Project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2978713997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 dirty="0"/>
                        <a:t>Nigam et al. (2023)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Modern AI models (GPT-based) perform well on Indian legal Q&amp;A tasks, especially factual and short-context queries, but rely heavily on paid APIs and lack transparency.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A strong baseline system is needed that is cost-effective, explainable, and deployable without API dependency for Indian legal use cases.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758857908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/>
                        <a:t>Akter et al. (2025)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Legal text summarization research lacks domain-specific benchmarks, real-world implementations, and consistent evaluation for long legal documents.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Justifies building a practical, evaluated baseline system focused on Indian legal documents rather than only theoretical analysis.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3488047048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/>
                        <a:t>Sharma et al. (2024)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Transformer-based models like PEGASUS and T5 achieve superior summarization quality but require high computational resources and large-scale infrastructure.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Confirms the need for a lightweight </a:t>
                      </a:r>
                      <a:r>
                        <a:rPr lang="en-GB" sz="1600" b="0" dirty="0" err="1"/>
                        <a:t>BiLSTM</a:t>
                      </a:r>
                      <a:r>
                        <a:rPr lang="en-GB" sz="1600" b="0" dirty="0"/>
                        <a:t> baseline first, with Transformers planned as a future enhancement.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3610476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3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</a:t>
            </a:r>
            <a:r>
              <a:rPr dirty="0" smtClean="0"/>
              <a:t>Survey</a:t>
            </a:r>
            <a:r>
              <a:rPr lang="en-IN" dirty="0" smtClean="0"/>
              <a:t>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020" y="2471131"/>
            <a:ext cx="7688425" cy="3444997"/>
          </a:xfrm>
        </p:spPr>
        <p:txBody>
          <a:bodyPr>
            <a:noAutofit/>
          </a:bodyPr>
          <a:lstStyle/>
          <a:p>
            <a:r>
              <a:rPr lang="en-GB" b="1" dirty="0"/>
              <a:t>Common Findings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Transformers outperform traditional models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Indian legal datasets are underrepresented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Lack of production-ready systems</a:t>
            </a:r>
          </a:p>
          <a:p>
            <a:r>
              <a:rPr lang="en-GB" b="1" dirty="0"/>
              <a:t>Research Gaps Identified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No Indian-focused baseline model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Limited evaluation on real legal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Poor </a:t>
            </a:r>
            <a:r>
              <a:rPr lang="en-GB" sz="2000" dirty="0" err="1"/>
              <a:t>explainability</a:t>
            </a:r>
            <a:r>
              <a:rPr lang="en-GB" sz="2000" dirty="0"/>
              <a:t> in existing models</a:t>
            </a:r>
          </a:p>
        </p:txBody>
      </p:sp>
    </p:spTree>
    <p:extLst>
      <p:ext uri="{BB962C8B-B14F-4D97-AF65-F5344CB8AC3E}">
        <p14:creationId xmlns:p14="http://schemas.microsoft.com/office/powerpoint/2010/main" val="133167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265" y="1911638"/>
            <a:ext cx="7509935" cy="3444997"/>
          </a:xfrm>
        </p:spPr>
        <p:txBody>
          <a:bodyPr>
            <a:noAutofit/>
          </a:bodyPr>
          <a:lstStyle/>
          <a:p>
            <a:endParaRPr sz="2000" dirty="0"/>
          </a:p>
          <a:p>
            <a:r>
              <a:rPr sz="2000" dirty="0"/>
              <a:t>Functional Requirements</a:t>
            </a:r>
          </a:p>
          <a:p>
            <a:pPr lvl="1"/>
            <a:r>
              <a:rPr sz="1800" dirty="0"/>
              <a:t>Input: PDF/DOCX Legal Documents.</a:t>
            </a:r>
          </a:p>
          <a:p>
            <a:pPr lvl="1"/>
            <a:r>
              <a:rPr sz="1800" dirty="0"/>
              <a:t>Core: Abstractive Summarization &amp; Fact-based Q&amp;A.</a:t>
            </a:r>
          </a:p>
          <a:p>
            <a:r>
              <a:rPr sz="2000" dirty="0"/>
              <a:t>Non-Functional Requirements</a:t>
            </a:r>
          </a:p>
          <a:p>
            <a:pPr lvl="1"/>
            <a:r>
              <a:rPr sz="1800" dirty="0"/>
              <a:t>Performance: High ROUGE-L scores </a:t>
            </a:r>
            <a:r>
              <a:rPr sz="1800" dirty="0" smtClean="0"/>
              <a:t>(&gt;</a:t>
            </a:r>
            <a:r>
              <a:rPr lang="en-IN" sz="1800" dirty="0"/>
              <a:t> </a:t>
            </a:r>
            <a:r>
              <a:rPr lang="en-IN" sz="1800" dirty="0" smtClean="0"/>
              <a:t>0.70 </a:t>
            </a:r>
            <a:r>
              <a:rPr sz="1800" dirty="0" smtClean="0"/>
              <a:t>).</a:t>
            </a:r>
            <a:endParaRPr sz="1800" dirty="0"/>
          </a:p>
          <a:p>
            <a:pPr lvl="1"/>
            <a:r>
              <a:rPr sz="1800" dirty="0"/>
              <a:t>Latency: Near real-time processing (&lt;6s per doc).</a:t>
            </a:r>
          </a:p>
          <a:p>
            <a:r>
              <a:rPr sz="2000" dirty="0"/>
              <a:t>Dataset Requirements</a:t>
            </a:r>
          </a:p>
          <a:p>
            <a:pPr lvl="1"/>
            <a:r>
              <a:rPr sz="1800" dirty="0"/>
              <a:t>Source: Supreme Court &amp; High Court </a:t>
            </a:r>
            <a:r>
              <a:rPr sz="1800" dirty="0" smtClean="0"/>
              <a:t>Judgments</a:t>
            </a:r>
            <a:r>
              <a:rPr lang="en-IN" sz="1800" dirty="0" smtClean="0"/>
              <a:t> (Web Scraping)</a:t>
            </a:r>
            <a:r>
              <a:rPr sz="1800" dirty="0" smtClean="0"/>
              <a:t>.</a:t>
            </a:r>
            <a:endParaRPr sz="1800" dirty="0"/>
          </a:p>
          <a:p>
            <a:pPr lvl="1"/>
            <a:r>
              <a:rPr sz="1800" dirty="0"/>
              <a:t>Size: 150 Documents (2000 - 50,000 words each).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Planning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440" y="1567270"/>
            <a:ext cx="8220269" cy="4454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sz="3200" dirty="0"/>
          </a:p>
          <a:p>
            <a:pPr lvl="1">
              <a:lnSpc>
                <a:spcPct val="150000"/>
              </a:lnSpc>
            </a:pPr>
            <a:r>
              <a:rPr lang="en-GB" sz="3200" dirty="0"/>
              <a:t>• Phase 1: Dataset + </a:t>
            </a:r>
            <a:r>
              <a:rPr lang="en-GB" sz="3200" dirty="0" err="1"/>
              <a:t>Preprocessing</a:t>
            </a:r>
            <a:endParaRPr lang="en-GB" sz="3200" dirty="0"/>
          </a:p>
          <a:p>
            <a:pPr lvl="1">
              <a:lnSpc>
                <a:spcPct val="150000"/>
              </a:lnSpc>
            </a:pPr>
            <a:r>
              <a:rPr lang="en-GB" sz="3200" dirty="0"/>
              <a:t>• Phase 2: Model Development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3: Evaluation &amp; Metrics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4: UI + Deployment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5: Paper publication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42" y="2692276"/>
            <a:ext cx="3632202" cy="1371600"/>
          </a:xfrm>
        </p:spPr>
        <p:txBody>
          <a:bodyPr>
            <a:noAutofit/>
          </a:bodyPr>
          <a:lstStyle/>
          <a:p>
            <a:r>
              <a:rPr sz="4400" dirty="0"/>
              <a:t>System Architecture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33" y="696967"/>
            <a:ext cx="2647149" cy="53622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42" y="2692276"/>
            <a:ext cx="3632202" cy="1371600"/>
          </a:xfrm>
        </p:spPr>
        <p:txBody>
          <a:bodyPr>
            <a:noAutofit/>
          </a:bodyPr>
          <a:lstStyle/>
          <a:p>
            <a:r>
              <a:rPr lang="en-IN" sz="4400" dirty="0" smtClean="0"/>
              <a:t>Model</a:t>
            </a:r>
            <a:r>
              <a:rPr sz="4400" dirty="0" smtClean="0"/>
              <a:t> </a:t>
            </a:r>
            <a:r>
              <a:rPr sz="4400" dirty="0"/>
              <a:t>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75" y="795399"/>
            <a:ext cx="2873829" cy="5344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8916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920" y="1892633"/>
            <a:ext cx="7556589" cy="3444997"/>
          </a:xfrm>
        </p:spPr>
        <p:txBody>
          <a:bodyPr>
            <a:noAutofit/>
          </a:bodyPr>
          <a:lstStyle/>
          <a:p>
            <a:endParaRPr dirty="0"/>
          </a:p>
          <a:p>
            <a:r>
              <a:rPr dirty="0"/>
              <a:t>Dataset Composition</a:t>
            </a:r>
          </a:p>
          <a:p>
            <a:pPr lvl="1"/>
            <a:r>
              <a:rPr sz="1800" dirty="0"/>
              <a:t>Total Documents: 150 (Indian Legal Context)</a:t>
            </a:r>
          </a:p>
          <a:p>
            <a:pPr lvl="1"/>
            <a:r>
              <a:rPr sz="1800" dirty="0"/>
              <a:t>Split: 120 Training / 30 Testing.</a:t>
            </a:r>
          </a:p>
          <a:p>
            <a:pPr lvl="1"/>
            <a:r>
              <a:rPr sz="1800" dirty="0"/>
              <a:t>Types: Criminal, Civil, Constitutional, Corporate Law.</a:t>
            </a:r>
          </a:p>
          <a:p>
            <a:r>
              <a:rPr dirty="0"/>
              <a:t>Preprocessing Steps</a:t>
            </a:r>
          </a:p>
          <a:p>
            <a:pPr lvl="1"/>
            <a:r>
              <a:rPr sz="1800" dirty="0"/>
              <a:t>Text Cleaning: Regex removal of special characters/non-alphanumeric.</a:t>
            </a:r>
          </a:p>
          <a:p>
            <a:pPr lvl="1"/>
            <a:r>
              <a:rPr sz="1800" dirty="0"/>
              <a:t>Tokenization: Word-level tokenization (Vocab limit: 20,000).</a:t>
            </a:r>
          </a:p>
          <a:p>
            <a:pPr lvl="1"/>
            <a:r>
              <a:rPr sz="1800" dirty="0"/>
              <a:t>Padding: Max Text Length = 400, Max Summary Length = 60.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473343"/>
            <a:ext cx="6798735" cy="1303867"/>
          </a:xfrm>
        </p:spPr>
        <p:txBody>
          <a:bodyPr/>
          <a:lstStyle/>
          <a:p>
            <a:r>
              <a:rPr dirty="0"/>
              <a:t>Tools &amp; Technologies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8632" y="17772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Languages &amp; Core</a:t>
            </a:r>
          </a:p>
          <a:p>
            <a:endParaRPr sz="2000" dirty="0"/>
          </a:p>
          <a:p>
            <a:r>
              <a:rPr sz="2000" dirty="0"/>
              <a:t>Python 3.12</a:t>
            </a:r>
          </a:p>
          <a:p>
            <a:r>
              <a:rPr sz="2000" dirty="0" err="1"/>
              <a:t>NumPy</a:t>
            </a:r>
            <a:endParaRPr sz="2000" dirty="0"/>
          </a:p>
          <a:p>
            <a:r>
              <a:rPr sz="2000" dirty="0"/>
              <a:t>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6232" y="17772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Deep Learning</a:t>
            </a:r>
          </a:p>
          <a:p>
            <a:endParaRPr sz="2000" dirty="0"/>
          </a:p>
          <a:p>
            <a:r>
              <a:rPr sz="2000" dirty="0" err="1"/>
              <a:t>TensorFlow</a:t>
            </a:r>
            <a:r>
              <a:rPr sz="2000" dirty="0"/>
              <a:t> / </a:t>
            </a:r>
            <a:r>
              <a:rPr sz="2000" dirty="0" err="1"/>
              <a:t>Keras</a:t>
            </a:r>
            <a:endParaRPr sz="2000" dirty="0"/>
          </a:p>
          <a:p>
            <a:r>
              <a:rPr sz="2000" dirty="0" err="1"/>
              <a:t>GloVe</a:t>
            </a:r>
            <a:r>
              <a:rPr sz="2000" dirty="0"/>
              <a:t> </a:t>
            </a:r>
            <a:r>
              <a:rPr sz="2000" dirty="0" err="1"/>
              <a:t>Embeddings</a:t>
            </a:r>
            <a:endParaRPr sz="2000" dirty="0"/>
          </a:p>
          <a:p>
            <a:r>
              <a:rPr sz="2000" dirty="0" err="1"/>
              <a:t>Scikit</a:t>
            </a:r>
            <a:r>
              <a:rPr sz="2000" dirty="0"/>
              <a:t>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632" y="36060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Backend &amp; Database</a:t>
            </a:r>
          </a:p>
          <a:p>
            <a:endParaRPr sz="2000" dirty="0"/>
          </a:p>
          <a:p>
            <a:r>
              <a:rPr sz="2000" dirty="0"/>
              <a:t>Flask (Python)</a:t>
            </a:r>
          </a:p>
          <a:p>
            <a:r>
              <a:rPr sz="2000" dirty="0"/>
              <a:t>MongoDB Atlas</a:t>
            </a:r>
          </a:p>
          <a:p>
            <a:r>
              <a:rPr sz="2000" dirty="0"/>
              <a:t>Pickle (Serialization)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6232" y="36060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Infrastructure</a:t>
            </a:r>
          </a:p>
          <a:p>
            <a:endParaRPr sz="2000" dirty="0"/>
          </a:p>
          <a:p>
            <a:r>
              <a:rPr sz="2000" dirty="0"/>
              <a:t>Google </a:t>
            </a:r>
            <a:r>
              <a:rPr sz="2000" dirty="0" err="1"/>
              <a:t>Colab</a:t>
            </a:r>
            <a:r>
              <a:rPr sz="2000" dirty="0"/>
              <a:t> (T4 GPU)</a:t>
            </a:r>
          </a:p>
          <a:p>
            <a:r>
              <a:rPr sz="2000" dirty="0"/>
              <a:t>CUDA 11.3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21" y="915337"/>
            <a:ext cx="7903028" cy="1303867"/>
          </a:xfrm>
        </p:spPr>
        <p:txBody>
          <a:bodyPr>
            <a:normAutofit fontScale="90000"/>
          </a:bodyPr>
          <a:lstStyle/>
          <a:p>
            <a:r>
              <a:rPr dirty="0"/>
              <a:t>Algorithm: Stacked </a:t>
            </a:r>
            <a:r>
              <a:rPr dirty="0" err="1"/>
              <a:t>BiLSTM</a:t>
            </a:r>
            <a:r>
              <a:rPr dirty="0"/>
              <a:t> +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963" y="1864711"/>
            <a:ext cx="7677886" cy="3444997"/>
          </a:xfrm>
        </p:spPr>
        <p:txBody>
          <a:bodyPr>
            <a:noAutofit/>
          </a:bodyPr>
          <a:lstStyle/>
          <a:p>
            <a:endParaRPr sz="2000" dirty="0"/>
          </a:p>
          <a:p>
            <a:r>
              <a:rPr sz="2000" dirty="0"/>
              <a:t>Encoder</a:t>
            </a:r>
          </a:p>
          <a:p>
            <a:pPr lvl="1"/>
            <a:r>
              <a:rPr dirty="0"/>
              <a:t>Input: Tokenized Sequence (400)</a:t>
            </a:r>
          </a:p>
          <a:p>
            <a:pPr lvl="1"/>
            <a:r>
              <a:rPr dirty="0"/>
              <a:t>Layers: Embedding (</a:t>
            </a:r>
            <a:r>
              <a:rPr dirty="0" err="1"/>
              <a:t>GloVe</a:t>
            </a:r>
            <a:r>
              <a:rPr dirty="0"/>
              <a:t>) -&gt; </a:t>
            </a:r>
            <a:r>
              <a:rPr dirty="0" err="1"/>
              <a:t>BiLSTM</a:t>
            </a:r>
            <a:r>
              <a:rPr dirty="0"/>
              <a:t> (Layer 1) -&gt; </a:t>
            </a:r>
            <a:r>
              <a:rPr dirty="0" err="1"/>
              <a:t>LayerNorm</a:t>
            </a:r>
            <a:r>
              <a:rPr dirty="0"/>
              <a:t> -&gt; </a:t>
            </a:r>
            <a:r>
              <a:rPr dirty="0" err="1"/>
              <a:t>BiLSTM</a:t>
            </a:r>
            <a:r>
              <a:rPr dirty="0"/>
              <a:t> (Layer 2)</a:t>
            </a:r>
          </a:p>
          <a:p>
            <a:pPr lvl="1"/>
            <a:r>
              <a:rPr dirty="0"/>
              <a:t>Output: Forward &amp; Backward Hidden States</a:t>
            </a:r>
          </a:p>
          <a:p>
            <a:r>
              <a:rPr sz="2000" dirty="0"/>
              <a:t>Decoder with Attention</a:t>
            </a:r>
          </a:p>
          <a:p>
            <a:pPr lvl="1"/>
            <a:r>
              <a:rPr dirty="0"/>
              <a:t>Context Vector: Calculated via Attention Weights on Encoder States.</a:t>
            </a:r>
          </a:p>
          <a:p>
            <a:pPr lvl="1"/>
            <a:r>
              <a:rPr dirty="0"/>
              <a:t>Generation: LSTM Decoder predicts next word using Context Vector + Previous 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Implementation Details (50%)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473" y="1781009"/>
            <a:ext cx="8070979" cy="3444997"/>
          </a:xfrm>
        </p:spPr>
        <p:txBody>
          <a:bodyPr>
            <a:noAutofit/>
          </a:bodyPr>
          <a:lstStyle/>
          <a:p>
            <a:endParaRPr sz="2800" dirty="0"/>
          </a:p>
          <a:p>
            <a:r>
              <a:rPr sz="2800" dirty="0"/>
              <a:t>Model Specifications:</a:t>
            </a:r>
          </a:p>
          <a:p>
            <a:pPr lvl="1"/>
            <a:r>
              <a:rPr dirty="0"/>
              <a:t>Total </a:t>
            </a:r>
            <a:r>
              <a:rPr dirty="0" err="1"/>
              <a:t>Params</a:t>
            </a:r>
            <a:r>
              <a:rPr dirty="0"/>
              <a:t>: 3,897,996 (Trainable)</a:t>
            </a:r>
          </a:p>
          <a:p>
            <a:pPr lvl="1"/>
            <a:r>
              <a:rPr dirty="0"/>
              <a:t>Embedding Dim: 100 | Hidden Units: 256</a:t>
            </a:r>
          </a:p>
          <a:p>
            <a:pPr lvl="1"/>
            <a:r>
              <a:rPr dirty="0"/>
              <a:t>Optimizer: Adam (LR=0.001) | Loss: Sparse Categorical </a:t>
            </a:r>
            <a:r>
              <a:rPr dirty="0" err="1"/>
              <a:t>Crossentropy</a:t>
            </a:r>
            <a:endParaRPr dirty="0"/>
          </a:p>
          <a:p>
            <a:r>
              <a:rPr sz="2800" dirty="0"/>
              <a:t>Training Progress:</a:t>
            </a:r>
          </a:p>
          <a:p>
            <a:pPr lvl="1"/>
            <a:r>
              <a:rPr dirty="0"/>
              <a:t>Epochs: 25</a:t>
            </a:r>
          </a:p>
          <a:p>
            <a:pPr lvl="1"/>
            <a:r>
              <a:rPr dirty="0"/>
              <a:t>Initial Loss: 5.02 -&gt; Final Loss: 0.47</a:t>
            </a:r>
          </a:p>
          <a:p>
            <a:pPr lvl="1"/>
            <a:r>
              <a:rPr dirty="0"/>
              <a:t>Initial Accuracy: 9.6% -&gt; Final Accuracy: 86.3%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97" y="1874315"/>
            <a:ext cx="8677468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Summarization Metrics (Evaluation on </a:t>
            </a:r>
            <a:r>
              <a:rPr lang="en-IN" dirty="0" smtClean="0"/>
              <a:t>25</a:t>
            </a:r>
            <a:r>
              <a:rPr dirty="0" smtClean="0"/>
              <a:t> </a:t>
            </a:r>
            <a:r>
              <a:rPr dirty="0"/>
              <a:t>Docs)</a:t>
            </a:r>
          </a:p>
          <a:p>
            <a:pPr lvl="1"/>
            <a:r>
              <a:rPr sz="1800" dirty="0"/>
              <a:t>ROUGE-L Score: </a:t>
            </a:r>
            <a:r>
              <a:rPr sz="1800" dirty="0" smtClean="0"/>
              <a:t>0.7</a:t>
            </a:r>
            <a:r>
              <a:rPr lang="en-IN" sz="1800" dirty="0" smtClean="0"/>
              <a:t>038</a:t>
            </a:r>
            <a:r>
              <a:rPr sz="1800" dirty="0" smtClean="0"/>
              <a:t> </a:t>
            </a:r>
            <a:r>
              <a:rPr sz="1800" dirty="0"/>
              <a:t>(High semantic overlap)</a:t>
            </a:r>
          </a:p>
          <a:p>
            <a:pPr lvl="1"/>
            <a:r>
              <a:rPr sz="1800" dirty="0"/>
              <a:t>BLEU Score: </a:t>
            </a:r>
            <a:r>
              <a:rPr sz="1800" dirty="0" smtClean="0"/>
              <a:t>0.</a:t>
            </a:r>
            <a:r>
              <a:rPr lang="en-IN" sz="1800" dirty="0" smtClean="0"/>
              <a:t>5041</a:t>
            </a:r>
            <a:r>
              <a:rPr sz="1800" dirty="0" smtClean="0"/>
              <a:t>(Translation </a:t>
            </a:r>
            <a:r>
              <a:rPr sz="1800" dirty="0"/>
              <a:t>quality)</a:t>
            </a:r>
          </a:p>
          <a:p>
            <a:r>
              <a:rPr dirty="0"/>
              <a:t>Q&amp;A Performance</a:t>
            </a:r>
          </a:p>
          <a:p>
            <a:pPr lvl="1"/>
            <a:r>
              <a:rPr sz="1800" dirty="0"/>
              <a:t>F1-Score: </a:t>
            </a:r>
            <a:r>
              <a:rPr sz="1800" dirty="0" smtClean="0"/>
              <a:t>7</a:t>
            </a:r>
            <a:r>
              <a:rPr lang="en-IN" sz="1800" dirty="0" smtClean="0"/>
              <a:t>3</a:t>
            </a:r>
            <a:r>
              <a:rPr sz="1800" dirty="0" smtClean="0"/>
              <a:t>.</a:t>
            </a:r>
            <a:r>
              <a:rPr lang="en-IN" sz="1800" dirty="0" smtClean="0"/>
              <a:t>03</a:t>
            </a:r>
            <a:r>
              <a:rPr sz="1800" dirty="0" smtClean="0"/>
              <a:t>%</a:t>
            </a:r>
            <a:endParaRPr sz="1800" dirty="0"/>
          </a:p>
          <a:p>
            <a:r>
              <a:rPr dirty="0" smtClean="0"/>
              <a:t>System </a:t>
            </a:r>
            <a:r>
              <a:rPr dirty="0"/>
              <a:t>Performance</a:t>
            </a:r>
          </a:p>
          <a:p>
            <a:pPr lvl="1"/>
            <a:r>
              <a:rPr sz="1800" dirty="0" err="1"/>
              <a:t>Avg</a:t>
            </a:r>
            <a:r>
              <a:rPr sz="1800" dirty="0"/>
              <a:t> Processing Time: 5.1 seconds/document</a:t>
            </a:r>
          </a:p>
          <a:p>
            <a:pPr lvl="1"/>
            <a:r>
              <a:rPr sz="1800" dirty="0"/>
              <a:t>Throughput: ~702 documents/hour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Paper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7" y="1807863"/>
            <a:ext cx="7707084" cy="3444997"/>
          </a:xfrm>
        </p:spPr>
        <p:txBody>
          <a:bodyPr>
            <a:noAutofit/>
          </a:bodyPr>
          <a:lstStyle/>
          <a:p>
            <a:endParaRPr dirty="0"/>
          </a:p>
          <a:p>
            <a:r>
              <a:rPr sz="2000" dirty="0"/>
              <a:t>Title:</a:t>
            </a:r>
          </a:p>
          <a:p>
            <a:pPr lvl="1"/>
            <a:r>
              <a:rPr sz="1800" dirty="0"/>
              <a:t>"</a:t>
            </a:r>
            <a:r>
              <a:rPr sz="1800" dirty="0" err="1"/>
              <a:t>BiLSTM</a:t>
            </a:r>
            <a:r>
              <a:rPr sz="1800" dirty="0"/>
              <a:t>-Based Indian Legal Case Summarization and Q&amp;A: A Baseline Implementation with Transformer Extension"</a:t>
            </a:r>
          </a:p>
          <a:p>
            <a:r>
              <a:rPr sz="2000" dirty="0"/>
              <a:t>Authors:</a:t>
            </a:r>
          </a:p>
          <a:p>
            <a:pPr lvl="1"/>
            <a:r>
              <a:rPr lang="en-IN" sz="1800" dirty="0" err="1" smtClean="0"/>
              <a:t>Sushma</a:t>
            </a:r>
            <a:r>
              <a:rPr lang="en-IN" sz="1800" dirty="0" smtClean="0"/>
              <a:t> </a:t>
            </a:r>
            <a:r>
              <a:rPr lang="en-IN" sz="1800" dirty="0" err="1" smtClean="0"/>
              <a:t>Vispute</a:t>
            </a:r>
            <a:r>
              <a:rPr lang="en-IN" sz="1800" dirty="0" smtClean="0"/>
              <a:t> Mam, </a:t>
            </a:r>
            <a:r>
              <a:rPr sz="1800" dirty="0" err="1" smtClean="0"/>
              <a:t>Prathmesh</a:t>
            </a:r>
            <a:r>
              <a:rPr sz="1800" dirty="0" smtClean="0"/>
              <a:t> </a:t>
            </a:r>
            <a:r>
              <a:rPr sz="1800" dirty="0" err="1"/>
              <a:t>Dudhale</a:t>
            </a:r>
            <a:r>
              <a:rPr sz="1800" dirty="0"/>
              <a:t>, Aditya Joshi, </a:t>
            </a:r>
            <a:r>
              <a:rPr sz="1800" dirty="0" err="1"/>
              <a:t>Aaditesh</a:t>
            </a:r>
            <a:r>
              <a:rPr sz="1800" dirty="0"/>
              <a:t> </a:t>
            </a:r>
            <a:r>
              <a:rPr sz="1800" dirty="0" err="1"/>
              <a:t>Kadu</a:t>
            </a:r>
            <a:r>
              <a:rPr sz="1800" dirty="0"/>
              <a:t>, Vedant Kale</a:t>
            </a:r>
          </a:p>
          <a:p>
            <a:r>
              <a:rPr sz="2000" dirty="0"/>
              <a:t>Abstract Summary:</a:t>
            </a:r>
          </a:p>
          <a:p>
            <a:pPr lvl="1"/>
            <a:r>
              <a:rPr sz="1800" dirty="0"/>
              <a:t>Proposes a comprehensive system based on </a:t>
            </a:r>
            <a:r>
              <a:rPr sz="1800" dirty="0" err="1"/>
              <a:t>BiLSTM</a:t>
            </a:r>
            <a:r>
              <a:rPr sz="1800" dirty="0"/>
              <a:t> for processing legal documents, tested on 150 documents. Establishes a solid baseline (ROUGE-L </a:t>
            </a:r>
            <a:r>
              <a:rPr lang="en-IN" sz="1800" dirty="0"/>
              <a:t>0.7038 </a:t>
            </a:r>
            <a:r>
              <a:rPr sz="1800" dirty="0" smtClean="0"/>
              <a:t>) </a:t>
            </a:r>
            <a:r>
              <a:rPr sz="1800" dirty="0"/>
              <a:t>while identifying the need for Transformer architectures for complex reasoning.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7" y="1808999"/>
            <a:ext cx="7959012" cy="3444997"/>
          </a:xfrm>
        </p:spPr>
        <p:txBody>
          <a:bodyPr>
            <a:noAutofit/>
          </a:bodyPr>
          <a:lstStyle/>
          <a:p>
            <a:endParaRPr sz="2800" dirty="0"/>
          </a:p>
          <a:p>
            <a:r>
              <a:rPr sz="2800" dirty="0"/>
              <a:t>Conclusion</a:t>
            </a:r>
          </a:p>
          <a:p>
            <a:pPr lvl="1"/>
            <a:r>
              <a:rPr dirty="0"/>
              <a:t>Successfully implemented a </a:t>
            </a:r>
            <a:r>
              <a:rPr dirty="0" err="1" smtClean="0"/>
              <a:t>BiLSTM</a:t>
            </a:r>
            <a:r>
              <a:rPr dirty="0" smtClean="0"/>
              <a:t> </a:t>
            </a:r>
            <a:r>
              <a:rPr dirty="0"/>
              <a:t>Legal AI system.</a:t>
            </a:r>
          </a:p>
          <a:p>
            <a:pPr lvl="1"/>
            <a:r>
              <a:rPr dirty="0"/>
              <a:t>Verified performance with </a:t>
            </a:r>
            <a:r>
              <a:rPr dirty="0" smtClean="0"/>
              <a:t>ROUGE-L</a:t>
            </a:r>
            <a:r>
              <a:rPr lang="en-IN" dirty="0" smtClean="0"/>
              <a:t> </a:t>
            </a:r>
            <a:r>
              <a:rPr lang="en-IN" dirty="0"/>
              <a:t>0.7038</a:t>
            </a:r>
            <a:r>
              <a:rPr dirty="0" smtClean="0"/>
              <a:t> </a:t>
            </a:r>
            <a:r>
              <a:rPr dirty="0"/>
              <a:t>and high practitioner utility (Likert 3.74/5).</a:t>
            </a:r>
          </a:p>
          <a:p>
            <a:r>
              <a:rPr sz="2800" dirty="0"/>
              <a:t>Future Work</a:t>
            </a:r>
          </a:p>
          <a:p>
            <a:pPr lvl="1"/>
            <a:r>
              <a:rPr dirty="0"/>
              <a:t>Transformer Upgrade: Integrate LLMs (GPT-4/</a:t>
            </a:r>
            <a:r>
              <a:rPr dirty="0" err="1"/>
              <a:t>LLaMA</a:t>
            </a:r>
            <a:r>
              <a:rPr dirty="0"/>
              <a:t>) for better reasoning.</a:t>
            </a:r>
          </a:p>
          <a:p>
            <a:pPr lvl="1"/>
            <a:r>
              <a:rPr dirty="0"/>
              <a:t>RAG Integration: Retrieval-Augmented Generation for citing specific laws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789" y="2574110"/>
            <a:ext cx="7731061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[1] S. K. Nigam, S. K. Mishra, A. K. Mishra, N. Shallum, and A. Bhattacharya,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Legal Question-Answering in the Indian Context: Efficacy, Challenges, and Potential of Modern AI Models</a:t>
            </a:r>
            <a:r>
              <a:rPr lang="en-IN" sz="1800" dirty="0"/>
              <a:t>,” </a:t>
            </a:r>
            <a:r>
              <a:rPr lang="en-IN" sz="1800" i="1" dirty="0" err="1"/>
              <a:t>arXiv</a:t>
            </a:r>
            <a:r>
              <a:rPr lang="en-IN" sz="1800" i="1" dirty="0"/>
              <a:t> preprint arXiv:2309.14735</a:t>
            </a:r>
            <a:r>
              <a:rPr lang="en-IN" sz="1800" dirty="0"/>
              <a:t>, 2023.</a:t>
            </a:r>
          </a:p>
          <a:p>
            <a:pPr marL="0" indent="0">
              <a:buNone/>
            </a:pPr>
            <a:r>
              <a:rPr lang="en-IN" sz="1800" dirty="0"/>
              <a:t>[2] S. </a:t>
            </a:r>
            <a:r>
              <a:rPr lang="en-IN" sz="1800" dirty="0" err="1"/>
              <a:t>Akter</a:t>
            </a:r>
            <a:r>
              <a:rPr lang="en-IN" sz="1800" dirty="0"/>
              <a:t>, E. Cano, C. Weber, and M. </a:t>
            </a:r>
            <a:r>
              <a:rPr lang="en-IN" sz="1800" dirty="0" err="1"/>
              <a:t>Dobler</a:t>
            </a:r>
            <a:r>
              <a:rPr lang="en-IN" sz="1800" dirty="0"/>
              <a:t>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A Comprehensive Survey on Legal Text Summarization: Techniques, Datasets, and Challenges</a:t>
            </a:r>
            <a:r>
              <a:rPr lang="en-IN" sz="1800" dirty="0"/>
              <a:t>,” </a:t>
            </a:r>
            <a:r>
              <a:rPr lang="en-IN" sz="1800" i="1" dirty="0" err="1"/>
              <a:t>arXiv</a:t>
            </a:r>
            <a:r>
              <a:rPr lang="en-IN" sz="1800" i="1" dirty="0"/>
              <a:t> preprint</a:t>
            </a:r>
            <a:r>
              <a:rPr lang="en-IN" sz="1800" dirty="0"/>
              <a:t>, 2025.</a:t>
            </a:r>
          </a:p>
          <a:p>
            <a:pPr marL="0" indent="0">
              <a:buNone/>
            </a:pPr>
            <a:r>
              <a:rPr lang="en-IN" sz="1800" dirty="0"/>
              <a:t>[3] R. Sharma et al.,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Legal and Financial Document Summarization Using Transformer-Based Architectures</a:t>
            </a:r>
            <a:r>
              <a:rPr lang="en-IN" sz="1800" dirty="0"/>
              <a:t>,” </a:t>
            </a:r>
            <a:r>
              <a:rPr lang="en-IN" sz="1800" i="1" dirty="0"/>
              <a:t>Open Access International Journal of Science and Engineering</a:t>
            </a:r>
            <a:r>
              <a:rPr lang="en-IN" sz="1800" dirty="0"/>
              <a:t>, vol. 9, no. 8, pp. 1–15, 2024.</a:t>
            </a:r>
          </a:p>
        </p:txBody>
      </p:sp>
    </p:spTree>
    <p:extLst>
      <p:ext uri="{BB962C8B-B14F-4D97-AF65-F5344CB8AC3E}">
        <p14:creationId xmlns:p14="http://schemas.microsoft.com/office/powerpoint/2010/main" val="141599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83183" y="2581861"/>
            <a:ext cx="7129901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5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3593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</TotalTime>
  <Words>1159</Words>
  <Application>Microsoft Office PowerPoint</Application>
  <PresentationFormat>On-screen Show (4:3)</PresentationFormat>
  <Paragraphs>183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Garamond</vt:lpstr>
      <vt:lpstr>Times New Roman</vt:lpstr>
      <vt:lpstr>Organic</vt:lpstr>
      <vt:lpstr>Bitmap Image</vt:lpstr>
      <vt:lpstr>PowerPoint Presentation</vt:lpstr>
      <vt:lpstr>PowerPoint Presentation</vt:lpstr>
      <vt:lpstr>Problem Statement</vt:lpstr>
      <vt:lpstr>Motivation</vt:lpstr>
      <vt:lpstr>Project Objectives</vt:lpstr>
      <vt:lpstr>Scope and Feasibility</vt:lpstr>
      <vt:lpstr>Literature Survey</vt:lpstr>
      <vt:lpstr>Literature Survey</vt:lpstr>
      <vt:lpstr>Literature Survey Summary</vt:lpstr>
      <vt:lpstr>Requirement Analysis</vt:lpstr>
      <vt:lpstr>Project Planning Timeline</vt:lpstr>
      <vt:lpstr>System Architecture</vt:lpstr>
      <vt:lpstr>Model Architecture</vt:lpstr>
      <vt:lpstr>Dataset Design &amp; Preprocessing</vt:lpstr>
      <vt:lpstr>Tools &amp; Technologies Stack</vt:lpstr>
      <vt:lpstr>Algorithm: Stacked BiLSTM + Attention</vt:lpstr>
      <vt:lpstr>Implementation Details (50%)</vt:lpstr>
      <vt:lpstr>Testing &amp; Validation Results</vt:lpstr>
      <vt:lpstr>Research Paper Publication</vt:lpstr>
      <vt:lpstr>Conclusion &amp; Future Work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BiLSTM-based Indian Legal Case Summarization and Q&amp;A System</dc:title>
  <dc:subject/>
  <dc:creator/>
  <cp:keywords/>
  <dc:description>generated using python-pptx</dc:description>
  <cp:lastModifiedBy>Vedant</cp:lastModifiedBy>
  <cp:revision>13</cp:revision>
  <dcterms:created xsi:type="dcterms:W3CDTF">2013-01-27T09:14:16Z</dcterms:created>
  <dcterms:modified xsi:type="dcterms:W3CDTF">2026-02-22T07:19:32Z</dcterms:modified>
  <cp:category/>
</cp:coreProperties>
</file>